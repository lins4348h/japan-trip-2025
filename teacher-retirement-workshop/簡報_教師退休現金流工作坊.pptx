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【0′–1′】自我介紹 1 分鐘。強調：今天不賣商品、不報明牌，是陪大家把自己的數字算出來。右邊是引路人 IG 與官網的 QR Code，歡迎課後追蹤。發學習單、確認手機可上網。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【1′–4′】翻開學習單封面，在「憑感覺」寫下直覺數字，不討論、不分享；「有根據」先空著，第二關算完 C2 再回來填。順便說明：紅框是要寫數字的地方，空心小框是引用前面寫過的數字。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【4′–6′】工具使用次數來自自己開發的試算工具後台統計。帶出：焦慮很普遍，缺的是陪算的人。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【6′–8′】四關加延伸，對應學習單封面到第 7 頁；每一關都是「先講觀念，再翻學習單動手填」。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【8′–10′】五個工具前後串接，每個工具的結果抄進學習單對應字母。每頁右上角都有該頁工具的 QR Code。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【10′–12′】三個約定，特別是第一條：小組只談方法不談金額，讓大家安心。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【12′】進入第一關（學習單第 2 頁）。先講薪水、算薪水；再講退休金、算退休金。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【12′–15′】五個時間點。請老師在心裡定位自己哪一年初任：84 年前恩給制、84/7/1 後退撫基金制、112/7/1 後個人專戶制。最後一點：替代率已停在 112 年水準，但釋憲仍在審理。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【15′–18′】先看薪水單：新舊制月薪算法一樣（本俸＋學術研究費，年薪約 14.5 個月），差在每月扣款。退休金提撥都是本俸 × 2 × 15% × 35%，新制錢存進自己的專戶，還可自願增提（工具先設 0%）；公保費率舊制 7.22%、新制全額年金 16.33%，因為新制退休可領公保年金。以薪點 275 為例，新制實領約少 1,000 元。費率細節以人事室為準。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【18′–28′】實作 01（學習單第 2 頁上半）。先掃 QR Code 並加入書籤；新制老師自願提繳先設 0%。A1 現在的我、A2 年功薪到頂的我，A3 ＝ A2 − A1。右邊藍字是示範老師的填法；不知道薪級的老師看薪資單。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【28′–30′】接著換退休金主題。三層架構：公保是樓地板、退撫是主體、第三層自己補。今天的第四關就是第三層。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【30′–32′】請舉手：112/7/1 以後初任的有幾位？新制老師等一下有專屬說明，學習單第 2 頁的 B1 也有新制欄位。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【32′–34′】年輕老師最常問「如果我不教了，錢拿得回來嗎？」新制前 10 年離開，政府提撥部分會打折。細節（申請期限、是否可暫不領取）請洽人事室。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【34′–38′】新制（112/7/1 後初任）：每月法定提撥本俸 × 2 × 15%（老師 35%、政府 65%），另可自願增提 0～5.25%（本俸 31,560 約每月 0～3,314 元），全部進個人專戶。專戶可選保守、穩健、積極、人生週期四種組合，沒選就是人生週期型。右邊是示意：25 歲到 60 歲、每月 9,468，實質報酬 2%／4%／6% 約 575／865／1,349 萬；再加自提 5.25% 且 6% 約 1,821 萬。重點是選擇和時間，報酬為假設、非保證。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【38′–41′】舊制月退上限＝本俸 × 2 × 所得替代率。分母是本俸 × 2，不是實領。下方表格：114 年 12 月修法停止調降，不論何時退休都用 112 年度（35 年 69%）；原訂 118 年要砍到 60%。行政院、考試院已聲請釋憲，提醒關注判決。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【41′–43′】帶大家查一次表：年資＝預計退休年齡－初任年齡，找到那一格就是替代率，每多 1 年 +1.5%。請老師用自己的年資查一次，記在心裡就好。月退需年資滿 15 年；超過 35 年每年再 +0.5%，最多算到 40 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【43′–45′】和學習單範例是同一位示範老師：學士、25 歲初任、60 歲退休、年資 35 年。本俸依 114 年待遇表（薪點 625 為 54,160）。54,160 × 2 × 69% ＝ 74,741，這是法定上限，實際以退休金試算工具為準。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【45′–60′】實作 02（第 2 頁下半，約 15 分鐘）。舊制、新制擇一：舊制填月退與公保一次給付；新制填專戶月領（預設領 30 年、自提 0%、實質報酬 3%）＋公保年金。提醒 121 年過渡期後 58 歲起支，提前 1 年少 4%、最多提早 5 年少 20%。最後 3 分鐘小組討論「影響最大的變數」。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【60′–70′】休息 10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【70′】進入第二關（學習單第 3 頁）：先不談退休，先把「現在」算清楚。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【70′–73′】兩把尺：所得替代法（月收入 × 70–80%）當參考；今天主要用現況支出法，直接拿現在的月均支出當退休後月支出。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【73′–85′】實作 03 ①②（學習單第 3 頁上半，約 12 分鐘）。收入 ⓐⓑⓒ、支出三層 ⓓⓔⓕ：左邊小格打草稿，右邊合計照順序輸入工具。黃色標「整年」的填一整年總額，工具會自動分攤到每月。沒記帳就看薪資單、信用卡帳單估整數。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【85′–91′】實作 03 ③（第 3 頁「你的收支體檢」）。抄回 C1 月均收入、C2 月均支出；C3 月儲蓄 ＝ C1 − C2，儲蓄率 ＝ C3 ÷ C1（和工具的儲蓄率對一下）；參考所得替代法 C1 × 0.7。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【91′–94′】接著談退休後：為什麼可以直接用現在的支出 C2 當退休後支出？房貸、子女教育可能消失，但醫療、旅遊、長照會增加，一來一往。今天全部用「今天的錢」算，通膨已從報酬率扣掉，所以第四關用實質報酬 5%。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【94′–100′】實作 03 D（第 3 頁最下面）。D 退休後每月餘裕＝月退－月支出：大於 0 代表月退就夠生活；小於 0 代表差額要自己補。先把 B1（翻回第 2 頁）和 C2 的數字再寫一次，再相減。最後翻回封面，把 C2 填進「有根據」，和開場的憑感覺比一比。可請 1–2 位分享 D 是正是負（不說金額）。不論正負，第四關都把月退當備案。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【100′】進入第三關（學習單第 4 頁）：理財之前先盤點。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【100′–103′】範例帳本：資產 970 萬、負債 500 萬、淨值 470 萬；但淨值裡 320 萬是房屋淨值，真正動得了的只有 150 萬。不含房子的淨資產才是理財的起點。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【103′–105′】盤點之前先給一把尺：《財富階梯》（尼克．馬朱利）用淨資產分六階（第 5、6 階合併呈現），每階功課不同。等一下算出 E1，就能對照自己在第幾階。台幣以約 30 元換算。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【105′–107′】三原則：用淨資產衡量、萬分之一法則（淨資產 × 0.01% 以下的消費不必糾結）、量力而行。學習單第 4 頁「資產總覽」下方有對照格。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【107′–113′】實作 04 ①②（學習單第 4 頁上半）。資產 4 格寫現在市值、負債 3 格寫還沒還的本金（房貸寫餘額，不是月付），順序和工具一模一樣。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【113′–116′】實作 04 ③（第 4 頁「你的資產總覽」）。抄回 E1 總淨值與四個小格：總資產、總負債、不含房子的淨資產、房屋淨值；再用 E1 對照財富階梯寫下第幾階，並算萬分之一（E1 × 0.0001）。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【116′–119′】負債比＝總負債 ÷ 總資產。唸出工具範例（78%、房貸為主）的說明：剛買房前幾年偏高屬正常，看現金流撐不撐得住。信貸、卡債為主則先還清再投資。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【119′–124′】實作 04 ④（第 4 頁下半）。記下負債比與工具標示的類型；緊急預備金 ＝ C2 × 6，看現金與存款夠不夠，不夠就先補預備金再投資。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【124′–129′】休息 5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【129′】進入第四關（學習單第 5–6 頁）：假設沒有退休金，把月退當備案。再次聲明：觀念分享，非投資建議。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【129′–132′】第四關先講觀念、再動手。4% 法則：目標本金＝現在月支出 × 12 × 25。範例月支出 4 萬 → 1,200 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【132′–135′】存到 1,200 萬（實質 5%）從零開始：30 年每月約 1.4 萬，10 年要 7.7 萬，差 5 倍以上。重點是時間。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【135′–138′】先讓大家猜每月 5,000、30 年後有多少，再揭曉 416 萬：本金 180 萬，其餘 236 萬是複利。帶 72 法則：5% 約 14 年翻一倍。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【138′–141′】動手前先看工具結果怎麼讀：每月 2 萬、28 年、5% → 1,460.8 萬＝本金 672 萬＋複利 788.8 萬；晚 10 年開始只剩約 698 萬，少了約 762 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【141′–146′】觀念講完，開始實作 05 ①（學習單第 5 頁上半）。先算 F1 ＝ C2 × 12 × 25。打開理財試算器「理財規劃」分頁，照順序填五格：目前年齡、預計退休年齡、初始本金（可留空）、每月投入、報酬率 5%。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【146′–152′】實作 05 ②（第 5 頁中間的草稿表）。每月投入先試 5,000，其他不動、只改每月投入，每試一次寫一列。累積達到 F1 就打勾，但每月投入不要超過 C3 月儲蓄。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【152′–157′】實作 05 ③（第 5 頁下半）。先在 F2 上方再抄一次 C3 月儲蓄，這是每月投入的上限；再圈一組付得起的版本，照結果畫面抄 F2、F3、投入年數、本金總投入、G1，往下捲讀 G2。請一兩位分享「晚 10 年」的感受。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【157′–161′】總複習 ①（學習單第 6 頁上半）。照代號把前面的紅框抄過來：薪水 A、月退 B、每月收支 C 與 D，右欄打勾自我檢核。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【161′–165′】總複習 ②（第 6 頁下半）。資產 E、理財 F／G 抄完後，看 F3 是否 ≥ F1；最後用一段話說給自己聽。沒達標的三個槓桿：每月多投入、晚幾年退休、讓月退補上。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【165′】延伸（學習單第 7 頁）：怎麼開始投資。再次聲明：非投資建議。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【165′–166′】為什麼買大盤不買個股：個股可能一去不回（宏達電）、專家也很難贏大盤（SPIVA 美國 15 年約 9 成輸給 S&amp;P 500）、老師沒空盯盤。不推薦特定商品。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【166′–168′】0050、VOO 長期年化約 12～15%，0056 約 8%；2008 海嘯三者都跌了五成以上，高股息沒有比較抗跌。帶 72 法則，說明為什麼試算只用 5%。上課前請更新最新數據。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【168′–170′】延伸實作（學習單第 7 頁中段）。用 72 法則填表格最後一欄三格（72 ÷ 年化報酬）；「想一想」三題寫下自己的答案，時間不夠可回家再寫。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【170′–171′】請老師先心算：價格跌到 60 又回 100，到底賺還賠？再揭曉 +23%。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【171′–172′】四步驟，強調先有預備金。一檔大盤就夠。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【172′–173′】三個常見問題，可開放 1 題現場提問。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【173′–174′】四個風險快速帶過，時間不夠可略過。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【174′–177′】行動承諾寫在學習單第 7 頁最下面：今晚、這個月、今年各一件事，簽名＋日期。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【177′–178′】三句話收束。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【178′–180′】Q&amp;A。感謝。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89000" y="889000"/>
            <a:ext cx="59436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88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TEACHER'S RETIREMENT LEDGER · 3H WORKSHOP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1574800"/>
            <a:ext cx="7254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7500" b="1" spc="150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退休不是</a:t>
            </a:r>
            <a:endParaRPr lang="en-US" sz="7500" dirty="0"/>
          </a:p>
          <a:p>
            <a:pPr algn="l" indent="0" marL="0">
              <a:lnSpc>
                <a:spcPts val="8400"/>
              </a:lnSpc>
              <a:buNone/>
            </a:pPr>
            <a:r>
              <a:rPr lang="en-US" sz="7500" b="1" spc="150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</a:t>
            </a:r>
            <a:pPr algn="l" indent="0" marL="0">
              <a:lnSpc>
                <a:spcPts val="8400"/>
              </a:lnSpc>
              <a:buNone/>
            </a:pPr>
            <a:r>
              <a:rPr lang="en-US" sz="7500" b="1" spc="150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</a:t>
            </a:r>
            <a:pPr algn="l" indent="0" marL="0">
              <a:lnSpc>
                <a:spcPts val="8400"/>
              </a:lnSpc>
              <a:buNone/>
            </a:pPr>
            <a:r>
              <a:rPr lang="en-US" sz="7500" b="1" spc="150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endParaRPr lang="en-US" sz="7500" dirty="0"/>
          </a:p>
          <a:p>
            <a:pPr algn="l" indent="0" marL="0">
              <a:lnSpc>
                <a:spcPts val="8400"/>
              </a:lnSpc>
              <a:buNone/>
            </a:pPr>
            <a:r>
              <a:rPr lang="en-US" sz="7500" b="1" spc="150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是一條</a:t>
            </a:r>
            <a:pPr algn="l" indent="0" marL="0">
              <a:lnSpc>
                <a:spcPts val="8400"/>
              </a:lnSpc>
              <a:buNone/>
            </a:pPr>
            <a:r>
              <a:rPr lang="en-US" sz="7500" b="1" spc="150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現金流</a:t>
            </a:r>
            <a:endParaRPr lang="en-US" sz="7500" dirty="0"/>
          </a:p>
        </p:txBody>
      </p:sp>
      <p:sp>
        <p:nvSpPr>
          <p:cNvPr id="5" name="Text 3"/>
          <p:cNvSpPr txBox="1"/>
          <p:nvPr/>
        </p:nvSpPr>
        <p:spPr>
          <a:xfrm>
            <a:off x="889000" y="5127625"/>
            <a:ext cx="2351421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2600" b="1" spc="10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講者｜引路人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095526" y="5248275"/>
            <a:ext cx="173956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spc="-4" kern="0" dirty="0">
                <a:solidFill>
                  <a:srgbClr val="F2ECE1">
                    <a:alpha val="8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高中資源班教師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89000" y="5767149"/>
            <a:ext cx="4683046" cy="325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spc="-4" kern="0" dirty="0">
                <a:solidFill>
                  <a:srgbClr val="F2ECE1">
                    <a:alpha val="8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教師退休制度 × 退休金試算 × 現況盤點 × 理財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01000" y="762000"/>
            <a:ext cx="3302000" cy="5334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31200" y="1638300"/>
            <a:ext cx="15896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20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· </a:t>
            </a:r>
            <a:pPr algn="l" indent="0" marL="0">
              <a:lnSpc>
                <a:spcPts val="1500"/>
              </a:lnSpc>
              <a:buNone/>
            </a:pPr>
            <a:r>
              <a:rPr lang="en-US" sz="1000" spc="20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引路人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331200" y="1914525"/>
            <a:ext cx="14704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追蹤引路人</a:t>
            </a:r>
            <a:endParaRPr lang="en-US" sz="2000" dirty="0"/>
          </a:p>
        </p:txBody>
      </p:sp>
      <p:pic>
        <p:nvPicPr>
          <p:cNvPr id="11" name="Image 0" descr="/tmp/claude-0/pptx/data/s1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1200" y="2552700"/>
            <a:ext cx="1206500" cy="12065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715500" y="2879725"/>
            <a:ext cx="120138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Instagram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715500" y="3257550"/>
            <a:ext cx="14278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4" kern="0" dirty="0">
                <a:solidFill>
                  <a:srgbClr val="6B6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@education_writing</a:t>
            </a:r>
            <a:endParaRPr lang="en-US" sz="900" dirty="0"/>
          </a:p>
        </p:txBody>
      </p:sp>
      <p:pic>
        <p:nvPicPr>
          <p:cNvPr id="14" name="Image 1" descr="/tmp/claude-0/pptx/data/s1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4013200"/>
            <a:ext cx="1206500" cy="12065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715500" y="4254500"/>
            <a:ext cx="125706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引路人官網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9715500" y="4632325"/>
            <a:ext cx="12824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4" kern="0" dirty="0">
                <a:solidFill>
                  <a:srgbClr val="6B6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education-writing-ai.netlify.app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522817" y="330200"/>
            <a:ext cx="218684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 · 學習單封面 · 3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1350367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133562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00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3497580" cy="898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退休後一個月，</a:t>
            </a:r>
            <a:endParaRPr lang="en-US" sz="2900" dirty="0"/>
          </a:p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要多少錢才睡得著？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2261553"/>
            <a:ext cx="3000391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寫在學習單封面，先不要跟隔壁討論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3119041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690416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748836"/>
            <a:ext cx="2632234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「憑感覺」：寫下直覺的數字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633391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3204766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3263186"/>
            <a:ext cx="3029395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「有根據」：先空著，第二關再填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4147741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719116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777536"/>
            <a:ext cx="203649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紅框＝要寫數字的地方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662091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4233466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4291886"/>
            <a:ext cx="243365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空心小框＝引用前面的數字</a:t>
            </a:r>
            <a:endParaRPr lang="en-US" sz="1400" dirty="0"/>
          </a:p>
        </p:txBody>
      </p:sp>
      <p:pic>
        <p:nvPicPr>
          <p:cNvPr id="22" name="Image 0" descr="/tmp/claude-0/pptx/data/s2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4734"/>
            <a:ext cx="825500" cy="115996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75922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封面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495800" y="1988542"/>
            <a:ext cx="202438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封面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038060" y="1964730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95800" y="2263180"/>
            <a:ext cx="6934200" cy="2820491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27" name="Image 1" descr="/tmp/claude-0/pptx/data/s2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00" y="2352080"/>
            <a:ext cx="6756202" cy="2642691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003830" y="330200"/>
            <a:ext cx="164811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 · 為什麼是今天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314575"/>
            <a:ext cx="5523706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0"/>
              </a:lnSpc>
              <a:buNone/>
            </a:pPr>
            <a:r>
              <a:rPr lang="en-US" sz="14000" spc="-4" kern="0" dirty="0">
                <a:solidFill>
                  <a:srgbClr val="0F3B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88,303</a:t>
            </a:r>
            <a:endParaRPr lang="en-US" sz="140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4346575"/>
            <a:ext cx="567161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12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 ─ 「教師退休金試算」工具上線兩個多月的使用次數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18759" y="2663329"/>
            <a:ext cx="0" cy="1721842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28334" y="2659519"/>
            <a:ext cx="3707035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spc="56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老師們不是不想懂，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828334" y="3086160"/>
            <a:ext cx="2894489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spc="56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是沒人陪著算。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828334" y="3693140"/>
            <a:ext cx="46937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年改之後，同一張薪水單，</a:t>
            </a:r>
            <a:endParaRPr lang="en-US" sz="17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每個人的退休答案都不一樣。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977735" y="330200"/>
            <a:ext cx="16773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今日帳本 · 180 分鐘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46785"/>
            <a:ext cx="6550612" cy="48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spc="6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今天的帳，照學習單一頁一頁記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722735"/>
            <a:ext cx="10668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1735435"/>
            <a:ext cx="10668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244028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2000" y="2011660"/>
            <a:ext cx="663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00–12′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841500" y="1875135"/>
            <a:ext cx="362617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540000" y="1948160"/>
            <a:ext cx="241998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</a:t>
            </a:r>
            <a:pPr algn="l" indent="0" marL="0">
              <a:lnSpc>
                <a:spcPts val="12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你的第一個直覺數字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528538" y="2014835"/>
            <a:ext cx="90146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學習單封面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2000" y="314513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2000" y="2716510"/>
            <a:ext cx="663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12–60′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841500" y="2579985"/>
            <a:ext cx="15448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540000" y="2653010"/>
            <a:ext cx="317219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看懂制度</a:t>
            </a:r>
            <a:pPr algn="l" indent="0" marL="0">
              <a:lnSpc>
                <a:spcPts val="12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薪資、新舊制、替代率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766221" y="2719685"/>
            <a:ext cx="166377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頁 · 實作 01・02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2000" y="384998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421360"/>
            <a:ext cx="76622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70–100′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841500" y="3284835"/>
            <a:ext cx="258159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2540000" y="3357860"/>
            <a:ext cx="335654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看清現況</a:t>
            </a:r>
            <a:pPr algn="l" indent="0" marL="0">
              <a:lnSpc>
                <a:spcPts val="12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現在每月花多少、存多少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0125043" y="3424535"/>
            <a:ext cx="130495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頁 · 實作 03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2000" y="455483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2000" y="4126210"/>
            <a:ext cx="8684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100–124′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841500" y="3989685"/>
            <a:ext cx="36172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2540000" y="4062710"/>
            <a:ext cx="40939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盤點資產</a:t>
            </a:r>
            <a:pPr algn="l" indent="0" marL="0">
              <a:lnSpc>
                <a:spcPts val="12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淨值、財富階梯、負債比、預備金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0125043" y="4129385"/>
            <a:ext cx="130495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頁 · 實作 04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2000" y="525968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2000" y="4831060"/>
            <a:ext cx="8684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129–165′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841500" y="4694535"/>
            <a:ext cx="37995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2540000" y="4767560"/>
            <a:ext cx="335654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理財規劃</a:t>
            </a:r>
            <a:pPr algn="l" indent="0" marL="0">
              <a:lnSpc>
                <a:spcPts val="12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目標本金、複利、總複習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936353" y="4834235"/>
            <a:ext cx="149364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5–6 頁 · 實作 05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2000" y="596453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2000" y="5535910"/>
            <a:ext cx="8684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165–180′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841500" y="5399385"/>
            <a:ext cx="46685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2540000" y="5472410"/>
            <a:ext cx="280881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</a:t>
            </a:r>
            <a:pPr algn="l" indent="0" marL="0">
              <a:lnSpc>
                <a:spcPts val="12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買大盤、行動承諾、Q&amp;A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10850801" y="5539085"/>
            <a:ext cx="57919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7 頁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62000" y="6142335"/>
            <a:ext cx="69164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每一關都是「先講觀念，再翻學習單動手填」｜中場休息：60′（10 分鐘）、124′（5 分鐘）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690894" y="330200"/>
            <a:ext cx="199859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今日工具 · 一條線串起來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46785"/>
            <a:ext cx="8872014" cy="48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spc="6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五個工具，前一個的答案，是下一個的輸入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846560"/>
            <a:ext cx="1924050" cy="304800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865610"/>
            <a:ext cx="1924050" cy="0"/>
          </a:xfrm>
          <a:prstGeom prst="line">
            <a:avLst/>
          </a:prstGeom>
          <a:noFill/>
          <a:ln w="38100">
            <a:solidFill>
              <a:srgbClr val="0F3B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2875" y="1846560"/>
            <a:ext cx="0" cy="304800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4891385"/>
            <a:ext cx="192405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5175" y="1846560"/>
            <a:ext cx="0" cy="304800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3450" y="2056110"/>
            <a:ext cx="447961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33450" y="2557760"/>
            <a:ext cx="10727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薪資試算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33450" y="2986385"/>
            <a:ext cx="161277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我現在與到頂時的年薪？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3450" y="4396085"/>
            <a:ext cx="158115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933450" y="4488160"/>
            <a:ext cx="73721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年薪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774950" y="3176885"/>
            <a:ext cx="14503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947988" y="1846560"/>
            <a:ext cx="1924050" cy="304800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19" name="Shape 17"/>
          <p:cNvSpPr/>
          <p:nvPr/>
        </p:nvSpPr>
        <p:spPr>
          <a:xfrm>
            <a:off x="2947988" y="1865610"/>
            <a:ext cx="1924050" cy="0"/>
          </a:xfrm>
          <a:prstGeom prst="line">
            <a:avLst/>
          </a:prstGeom>
          <a:noFill/>
          <a:ln w="38100">
            <a:solidFill>
              <a:srgbClr val="0F3B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8863" y="1846560"/>
            <a:ext cx="0" cy="304800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47988" y="4891385"/>
            <a:ext cx="192405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51163" y="1846560"/>
            <a:ext cx="0" cy="304800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19438" y="2056110"/>
            <a:ext cx="447961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3119438" y="2557760"/>
            <a:ext cx="132818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退休金試算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119438" y="2986385"/>
            <a:ext cx="152565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制度會給我多少？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119438" y="4396085"/>
            <a:ext cx="158115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3119438" y="4488160"/>
            <a:ext cx="73721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月退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960938" y="3176885"/>
            <a:ext cx="14503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133975" y="1846560"/>
            <a:ext cx="1924050" cy="304800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30" name="Shape 28"/>
          <p:cNvSpPr/>
          <p:nvPr/>
        </p:nvSpPr>
        <p:spPr>
          <a:xfrm>
            <a:off x="5133975" y="1865610"/>
            <a:ext cx="1924050" cy="0"/>
          </a:xfrm>
          <a:prstGeom prst="line">
            <a:avLst/>
          </a:prstGeom>
          <a:noFill/>
          <a:ln w="38100">
            <a:solidFill>
              <a:srgbClr val="0F3B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54850" y="1846560"/>
            <a:ext cx="0" cy="304800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33975" y="4891385"/>
            <a:ext cx="192405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37150" y="1846560"/>
            <a:ext cx="0" cy="304800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05425" y="2056110"/>
            <a:ext cx="447961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5305425" y="2557760"/>
            <a:ext cx="15836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每月收支體檢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5305425" y="2986385"/>
            <a:ext cx="161277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我現在每月花多少、存多少？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305425" y="4396085"/>
            <a:ext cx="158115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5305425" y="4488160"/>
            <a:ext cx="136085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</a:t>
            </a:r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收支・儲蓄率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146925" y="3176885"/>
            <a:ext cx="14503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7319963" y="1846560"/>
            <a:ext cx="1924050" cy="304800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41" name="Shape 39"/>
          <p:cNvSpPr/>
          <p:nvPr/>
        </p:nvSpPr>
        <p:spPr>
          <a:xfrm>
            <a:off x="7319963" y="1865610"/>
            <a:ext cx="1924050" cy="0"/>
          </a:xfrm>
          <a:prstGeom prst="line">
            <a:avLst/>
          </a:prstGeom>
          <a:noFill/>
          <a:ln w="38100">
            <a:solidFill>
              <a:srgbClr val="0F3B3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40838" y="1846560"/>
            <a:ext cx="0" cy="304800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9963" y="4891385"/>
            <a:ext cx="192405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23138" y="1846560"/>
            <a:ext cx="0" cy="304800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91413" y="2056110"/>
            <a:ext cx="447961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800" dirty="0"/>
          </a:p>
        </p:txBody>
      </p:sp>
      <p:sp>
        <p:nvSpPr>
          <p:cNvPr id="46" name="Text 44"/>
          <p:cNvSpPr txBox="1"/>
          <p:nvPr/>
        </p:nvSpPr>
        <p:spPr>
          <a:xfrm>
            <a:off x="7491413" y="2557760"/>
            <a:ext cx="10727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資產總覽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7491413" y="2986385"/>
            <a:ext cx="170989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我現在有多少家底？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491413" y="4396085"/>
            <a:ext cx="158115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7491413" y="4488160"/>
            <a:ext cx="136085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</a:t>
            </a:r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淨值・負債比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332913" y="3176885"/>
            <a:ext cx="14503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9505950" y="1846560"/>
            <a:ext cx="1924050" cy="304800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52" name="Shape 50"/>
          <p:cNvSpPr/>
          <p:nvPr/>
        </p:nvSpPr>
        <p:spPr>
          <a:xfrm>
            <a:off x="9505950" y="1865610"/>
            <a:ext cx="1924050" cy="0"/>
          </a:xfrm>
          <a:prstGeom prst="line">
            <a:avLst/>
          </a:prstGeom>
          <a:noFill/>
          <a:ln w="38100">
            <a:solidFill>
              <a:srgbClr val="0F3B3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26825" y="1846560"/>
            <a:ext cx="0" cy="304800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505950" y="4891385"/>
            <a:ext cx="192405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509125" y="1846560"/>
            <a:ext cx="0" cy="304800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677400" y="2056110"/>
            <a:ext cx="447961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800" dirty="0"/>
          </a:p>
        </p:txBody>
      </p:sp>
      <p:sp>
        <p:nvSpPr>
          <p:cNvPr id="57" name="Text 55"/>
          <p:cNvSpPr txBox="1"/>
          <p:nvPr/>
        </p:nvSpPr>
        <p:spPr>
          <a:xfrm>
            <a:off x="9677400" y="2557760"/>
            <a:ext cx="132818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理財試算器</a:t>
            </a: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9677400" y="2986385"/>
            <a:ext cx="161277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目標多少？每月存多少？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9677400" y="4396085"/>
            <a:ext cx="158115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dash"/>
          </a:ln>
        </p:spPr>
      </p:sp>
      <p:sp>
        <p:nvSpPr>
          <p:cNvPr id="60" name="Text 58"/>
          <p:cNvSpPr txBox="1"/>
          <p:nvPr/>
        </p:nvSpPr>
        <p:spPr>
          <a:xfrm>
            <a:off x="9677400" y="4488160"/>
            <a:ext cx="13921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</a:t>
            </a:r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目標・</a:t>
            </a:r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</a:t>
            </a:r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複利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762000" y="5145385"/>
            <a:ext cx="691421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學習單就是一張 </a:t>
            </a:r>
            <a:pPr algn="l" indent="0" marL="0">
              <a:lnSpc>
                <a:spcPts val="2100"/>
              </a:lnSpc>
              <a:buNone/>
            </a:pPr>
            <a:r>
              <a:rPr lang="en-US" sz="14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→ G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的帳本：每做完一個工具，就把數字抄進對應的格子。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16766" y="330200"/>
            <a:ext cx="129762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 · 三個約定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46785"/>
            <a:ext cx="4693603" cy="48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spc="6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開始算之前，三個約定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805285"/>
            <a:ext cx="3318867" cy="0"/>
          </a:xfrm>
          <a:prstGeom prst="line">
            <a:avLst/>
          </a:prstGeom>
          <a:noFill/>
          <a:ln w="19050">
            <a:solidFill>
              <a:srgbClr val="0F3B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2000" y="1967210"/>
            <a:ext cx="39162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2764135"/>
            <a:ext cx="317385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數字只寫在自己的學習單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3222923"/>
            <a:ext cx="338524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5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不用跟任何人分享薪水、存款。小組討論只談方法，不談金額。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36467" y="1805285"/>
            <a:ext cx="3318966" cy="0"/>
          </a:xfrm>
          <a:prstGeom prst="line">
            <a:avLst/>
          </a:prstGeom>
          <a:noFill/>
          <a:ln w="19050">
            <a:solidFill>
              <a:srgbClr val="0F3B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6467" y="1967210"/>
            <a:ext cx="39162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4436467" y="2764135"/>
            <a:ext cx="203827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估算比精算重要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36467" y="3222923"/>
            <a:ext cx="338534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5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先求「差不多對」，比「完全不算」好一百倍。不確定就先填保守值。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11034" y="1805285"/>
            <a:ext cx="3318966" cy="0"/>
          </a:xfrm>
          <a:prstGeom prst="line">
            <a:avLst/>
          </a:prstGeom>
          <a:noFill/>
          <a:ln w="19050">
            <a:solidFill>
              <a:srgbClr val="0F3B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11034" y="1967210"/>
            <a:ext cx="39162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8111034" y="2764135"/>
            <a:ext cx="203827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這不是投資建議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111034" y="3222923"/>
            <a:ext cx="338534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5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今天談的是觀念與工具，沒有明牌、沒有商品推銷。決策請自己負責。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394355" y="3124200"/>
            <a:ext cx="1281843" cy="330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0"/>
              </a:lnSpc>
              <a:buNone/>
            </a:pPr>
            <a:r>
              <a:rPr lang="en-US" sz="26000" spc="-4" kern="0" dirty="0">
                <a:solidFill>
                  <a:srgbClr val="174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2600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1997075"/>
            <a:ext cx="49341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ONE · 12′–60′ · 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學習單第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89000" y="2498725"/>
            <a:ext cx="6990505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你的薪水和退休金，</a:t>
            </a:r>
            <a:endParaRPr lang="en-US" sz="6000" dirty="0"/>
          </a:p>
          <a:p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怎麼算</a:t>
            </a:r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出來的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89000" y="4530725"/>
            <a:ext cx="463437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先看薪水、算薪水；再看退休金、算退休金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086677" y="330200"/>
            <a:ext cx="155532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· 制度 · 先看全貌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19632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分鐘看懂退撫制度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302385"/>
            <a:ext cx="6086332" cy="48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spc="6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三十年來，退撫制度走了五步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62000" y="2526010"/>
            <a:ext cx="10668000" cy="19050"/>
          </a:xfrm>
          <a:prstGeom prst="rect">
            <a:avLst/>
          </a:prstGeom>
          <a:solidFill>
            <a:srgbClr val="CDBFA6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44346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0F3B30"/>
          </a:solidFill>
          <a:ln w="31750">
            <a:solidFill>
              <a:srgbClr val="F2EC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2000" y="2703810"/>
            <a:ext cx="106503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84 </a:t>
            </a:r>
            <a:pPr algn="l" indent="0" marL="0">
              <a:lnSpc>
                <a:spcPts val="2200"/>
              </a:lnSpc>
              <a:buNone/>
            </a:pPr>
            <a:r>
              <a:rPr lang="en-US" sz="22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年前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62000" y="3101320"/>
            <a:ext cx="81722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恩給制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62000" y="3472140"/>
            <a:ext cx="195868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退休金由政府全額編列預算支應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10880" y="244346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0F3B30"/>
          </a:solidFill>
          <a:ln w="31750">
            <a:solidFill>
              <a:srgbClr val="F2EC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10880" y="2703810"/>
            <a:ext cx="84723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84/7/1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910880" y="3101320"/>
            <a:ext cx="132818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退撫基金制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910880" y="3472140"/>
            <a:ext cx="195868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老師與政府共同提撥，確定給付（DB）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59759" y="244346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0F3B30"/>
          </a:solidFill>
          <a:ln w="31750">
            <a:solidFill>
              <a:srgbClr val="F2EC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59759" y="2703810"/>
            <a:ext cx="100303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107/7/1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059759" y="3101320"/>
            <a:ext cx="107270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年金改革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059759" y="3472140"/>
            <a:ext cx="195868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替代率原訂逐年調降至 118 年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08639" y="244346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B4432E"/>
          </a:solidFill>
          <a:ln w="31750">
            <a:solidFill>
              <a:srgbClr val="F2EC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08639" y="2703810"/>
            <a:ext cx="99147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112/7/1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208639" y="3101320"/>
            <a:ext cx="132818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個人專戶制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208639" y="3472140"/>
            <a:ext cx="195868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新進教師改為確定提撥（DC），帳戶隨人走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357519" y="2443460"/>
            <a:ext cx="177800" cy="177800"/>
          </a:xfrm>
          <a:prstGeom prst="roundRect">
            <a:avLst>
              <a:gd name="adj" fmla="val 50000"/>
            </a:avLst>
          </a:prstGeom>
          <a:solidFill>
            <a:srgbClr val="B4432E"/>
          </a:solidFill>
          <a:ln w="31750">
            <a:solidFill>
              <a:srgbClr val="F2EC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57519" y="2703810"/>
            <a:ext cx="89690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113 </a:t>
            </a:r>
            <a:pPr algn="l" indent="0" marL="0">
              <a:lnSpc>
                <a:spcPts val="2200"/>
              </a:lnSpc>
              <a:buNone/>
            </a:pPr>
            <a:r>
              <a:rPr lang="en-US" sz="22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357519" y="3101320"/>
            <a:ext cx="132818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替代率停砍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357519" y="3472140"/>
            <a:ext cx="195868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修法停在 112 年水準（釋憲審理中）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62000" y="4448691"/>
            <a:ext cx="4634373" cy="34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你在哪一年初任，決定你適用哪一套規則。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99613" y="330200"/>
            <a:ext cx="120483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· 制度 · 薪資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31231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先看薪水單：舊制、新制差在哪？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306195"/>
            <a:ext cx="5099764" cy="441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b="1" spc="58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薪水一樣算，差在每月扣款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762000" y="2004020"/>
            <a:ext cx="3048000" cy="287020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6950" y="2175470"/>
            <a:ext cx="13708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新舊制一樣的地方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96950" y="3175595"/>
            <a:ext cx="25781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96950" y="2492970"/>
            <a:ext cx="26263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月薪 ＝ 本俸 ＋ 學術研究費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96950" y="2813645"/>
            <a:ext cx="2602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依薪點查表，每年考核甲等晉一級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96950" y="3988395"/>
            <a:ext cx="25781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6950" y="3305770"/>
            <a:ext cx="111482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年功薪上限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96950" y="3626445"/>
            <a:ext cx="15613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學士 625、碩士 650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96950" y="4801195"/>
            <a:ext cx="25781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6950" y="4118570"/>
            <a:ext cx="17903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年薪 ≈ 月薪 × 14.5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96950" y="4439245"/>
            <a:ext cx="20992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年終 1.5 個月＋考核 1 個月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16400" y="2419945"/>
            <a:ext cx="72136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16400" y="2432645"/>
            <a:ext cx="72136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16400" y="2000845"/>
            <a:ext cx="7313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每月扣款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29300" y="2004020"/>
            <a:ext cx="169811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舊制 · 退撫基金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705850" y="2004020"/>
            <a:ext cx="169811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新制 · 個人專戶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216400" y="2985095"/>
            <a:ext cx="72136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16400" y="2580283"/>
            <a:ext cx="100814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退休金提撥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829300" y="2572345"/>
            <a:ext cx="202760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本俸 × 2 × 15% × 35%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705850" y="2572345"/>
            <a:ext cx="22350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同左，錢存進自己的專戶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216400" y="3804245"/>
            <a:ext cx="72136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16400" y="3132733"/>
            <a:ext cx="81667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自願增提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5829300" y="3124795"/>
            <a:ext cx="44796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705850" y="3124795"/>
            <a:ext cx="27786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可加提，最多本俸 × 2 × 5.25%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工具先設 0%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16400" y="4623395"/>
            <a:ext cx="72136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16400" y="3951883"/>
            <a:ext cx="81667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公保費率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5829300" y="3943945"/>
            <a:ext cx="185858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7.22%（自付 35%）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705850" y="3943945"/>
            <a:ext cx="27786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16.33%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退休可領公保年金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62000" y="5101550"/>
            <a:ext cx="9346629" cy="34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以薪點 275 為例：公保每月舊制約 798 元、新制約 1,804 元，新制</a:t>
            </a:r>
            <a:pPr algn="l" indent="0" marL="0">
              <a:lnSpc>
                <a:spcPts val="2720"/>
              </a:lnSpc>
              <a:buNone/>
            </a:pPr>
            <a:r>
              <a:rPr lang="en-US" sz="17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實領約少 1,000 元</a:t>
            </a:r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762000" y="5905500"/>
            <a:ext cx="79213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費率依 114/1/1 起公保費率（不適用年金 7.22%、全額年金 16.33%，依公保年資而定）與退撫儲金規定；實際以人事室為準。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40652" y="330200"/>
            <a:ext cx="149486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01 · 10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1350367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133562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01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1698562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薪資試算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2262965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現在的我、年功薪到頂的我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697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2411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299573"/>
            <a:ext cx="2973610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選學歷、薪級（新制自提設 0%）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1841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555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2813923"/>
            <a:ext cx="2587006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抄月實領、年薪、年齡 → A1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6984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698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328273"/>
            <a:ext cx="2388426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薪級調到年功薪上限 → A2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2128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7842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3842623"/>
            <a:ext cx="1289510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A3 ＝ A2 − A1</a:t>
            </a:r>
            <a:endParaRPr lang="en-US" sz="1400" dirty="0"/>
          </a:p>
        </p:txBody>
      </p:sp>
      <p:pic>
        <p:nvPicPr>
          <p:cNvPr id="22" name="Image 0" descr="/tmp/claude-0/pptx/data/s10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1658"/>
            <a:ext cx="825500" cy="116304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頁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739900" y="5105400"/>
            <a:ext cx="2171700" cy="990600"/>
          </a:xfrm>
          <a:prstGeom prst="rect">
            <a:avLst/>
          </a:prstGeom>
          <a:solidFill>
            <a:srgbClr val="F2ECE1"/>
          </a:solidFill>
          <a:ln/>
        </p:spPr>
      </p:sp>
      <p:pic>
        <p:nvPicPr>
          <p:cNvPr id="25" name="Image 1" descr="/tmp/claude-0/pptx/data/s10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0" y="5181600"/>
            <a:ext cx="838200" cy="8382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755900" y="5359400"/>
            <a:ext cx="78822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手機掃描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2755900" y="5648325"/>
            <a:ext cx="104259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開啟並加入書籤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4495800" y="2032000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10038060" y="2008187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495800" y="2306638"/>
            <a:ext cx="6934200" cy="2733675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31" name="Image 2" descr="/tmp/claude-0/pptx/data/s10_im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700" y="2395538"/>
            <a:ext cx="6756102" cy="2555875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886976" y="330200"/>
            <a:ext cx="65898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· 制度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46785"/>
            <a:ext cx="4693603" cy="48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spc="6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退休後的錢，來自三層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540490"/>
            <a:ext cx="4875625" cy="34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前兩層由制度決定，第三層只有你自己決定。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2000" y="2242741"/>
            <a:ext cx="3937000" cy="952500"/>
          </a:xfrm>
          <a:prstGeom prst="rect">
            <a:avLst/>
          </a:prstGeom>
          <a:solidFill>
            <a:srgbClr val="B443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16000" y="2506266"/>
            <a:ext cx="2237407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個人儲蓄與投資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953000" y="2445941"/>
            <a:ext cx="15874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65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 · </a:t>
            </a:r>
            <a:pPr algn="l" indent="0" marL="0">
              <a:lnSpc>
                <a:spcPts val="1650"/>
              </a:lnSpc>
              <a:buNone/>
            </a:pPr>
            <a:r>
              <a:rPr lang="en-US" sz="1100" spc="165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953000" y="2706291"/>
            <a:ext cx="354857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ETF、存款、保險年金 — 今天的重點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2000" y="3296841"/>
            <a:ext cx="3937000" cy="9525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16000" y="3560366"/>
            <a:ext cx="286204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退撫（月退／專戶）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953000" y="3500041"/>
            <a:ext cx="15874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65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 · </a:t>
            </a:r>
            <a:pPr algn="l" indent="0" marL="0">
              <a:lnSpc>
                <a:spcPts val="1650"/>
              </a:lnSpc>
              <a:buNone/>
            </a:pPr>
            <a:r>
              <a:rPr lang="en-US" sz="1100" spc="165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職業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953000" y="3760391"/>
            <a:ext cx="39624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舊制：確定給付 DB 新制：確定提撥 DC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4350941"/>
            <a:ext cx="3937000" cy="952500"/>
          </a:xfrm>
          <a:prstGeom prst="rect">
            <a:avLst/>
          </a:prstGeom>
          <a:solidFill>
            <a:srgbClr val="E8DFC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16000" y="4614466"/>
            <a:ext cx="130029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公保年金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953000" y="4554141"/>
            <a:ext cx="194725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65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 · </a:t>
            </a:r>
            <a:pPr algn="l" indent="0" marL="0">
              <a:lnSpc>
                <a:spcPts val="1650"/>
              </a:lnSpc>
              <a:buNone/>
            </a:pPr>
            <a:r>
              <a:rPr lang="en-US" sz="1100" spc="165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社會保險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53000" y="4814491"/>
            <a:ext cx="324275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樓地板：與生命等長的保底現金流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980936" y="6330950"/>
            <a:ext cx="55375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886976" y="330200"/>
            <a:ext cx="65898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· 制度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30595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分水嶺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112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302385"/>
            <a:ext cx="7479173" cy="48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spc="6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你是哪一制？答案決定你今天怎麼算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62000" y="2560935"/>
            <a:ext cx="10668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2573635"/>
            <a:ext cx="10668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071985"/>
            <a:ext cx="245432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舊制 · 確定給付 DB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071985"/>
            <a:ext cx="246999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新制 · 確定提撥 DC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2000" y="311973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2000" y="2700635"/>
            <a:ext cx="44796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2703810"/>
            <a:ext cx="177090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112/6/30 以前任職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703810"/>
            <a:ext cx="165277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112/7/1 以後初任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366583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46735"/>
            <a:ext cx="104370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金額怎麼來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3249910"/>
            <a:ext cx="239153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法定公式，受替代率上限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249910"/>
            <a:ext cx="284581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提撥本金 × 投資報酬（複利）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2000" y="421193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2000" y="3792835"/>
            <a:ext cx="8451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錢放在哪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3796010"/>
            <a:ext cx="90201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共同基金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796010"/>
            <a:ext cx="21787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個人專戶，帳戶隨人走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62000" y="475803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2000" y="4338935"/>
            <a:ext cx="8451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最大風險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286000" y="4342110"/>
            <a:ext cx="111482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政策再調整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342110"/>
            <a:ext cx="196592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投資績效與長壽風險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2000" y="530413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2000" y="4885035"/>
            <a:ext cx="8451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你能做的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286000" y="4888210"/>
            <a:ext cx="21787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年資、退休時點、領法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4888210"/>
            <a:ext cx="21787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自願增提、選投資組合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086677" y="330200"/>
            <a:ext cx="155532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· 制度 · 提早離職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614445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如果提早離職，錢拿得回來嗎？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660525"/>
            <a:ext cx="7313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任職年資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60600" y="1663700"/>
            <a:ext cx="193936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舊制 · 退撫基金制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96100" y="1663700"/>
            <a:ext cx="193936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新制 · 個人專戶制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2184400"/>
            <a:ext cx="112849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未滿 5 年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2260600" y="2089150"/>
            <a:ext cx="4533900" cy="55880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44750" y="2232025"/>
            <a:ext cx="422087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可申請發還</a:t>
            </a:r>
            <a:pPr algn="l" indent="0" marL="0">
              <a:lnSpc>
                <a:spcPts val="2100"/>
              </a:lnSpc>
              <a:buNone/>
            </a:pPr>
            <a:r>
              <a:rPr lang="en-US" sz="14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自己繳的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本息；政府撥繳部分不發還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96100" y="2089150"/>
            <a:ext cx="4533900" cy="558800"/>
          </a:xfrm>
          <a:prstGeom prst="rect">
            <a:avLst/>
          </a:prstGeom>
          <a:solidFill>
            <a:srgbClr val="B4432E">
              <a:alpha val="6000"/>
            </a:srgbClr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0250" y="2232025"/>
            <a:ext cx="438456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只能領回</a:t>
            </a:r>
            <a:pPr algn="l" indent="0" marL="0">
              <a:lnSpc>
                <a:spcPts val="2100"/>
              </a:lnSpc>
              <a:buNone/>
            </a:pPr>
            <a:r>
              <a:rPr lang="en-US" sz="14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自己提繳的 35%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；政府提撥 65% 不能領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62000" y="2844800"/>
            <a:ext cx="85879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滿 5 年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2260600" y="2749550"/>
            <a:ext cx="4533900" cy="55880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44750" y="2892425"/>
            <a:ext cx="402229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同上；或</a:t>
            </a:r>
            <a:pPr algn="l" indent="0" marL="0">
              <a:lnSpc>
                <a:spcPts val="2100"/>
              </a:lnSpc>
              <a:buNone/>
            </a:pPr>
            <a:r>
              <a:rPr lang="en-US" sz="14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保留年資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，日後轉任他職退休時併計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96100" y="2749550"/>
            <a:ext cx="4533900" cy="558800"/>
          </a:xfrm>
          <a:prstGeom prst="rect">
            <a:avLst/>
          </a:prstGeom>
          <a:solidFill>
            <a:srgbClr val="B4432E">
              <a:alpha val="6000"/>
            </a:srgbClr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80250" y="2892425"/>
            <a:ext cx="228963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政府提撥部分可領回 </a:t>
            </a:r>
            <a:pPr algn="l" indent="0" marL="0">
              <a:lnSpc>
                <a:spcPts val="2100"/>
              </a:lnSpc>
              <a:buNone/>
            </a:pPr>
            <a:r>
              <a:rPr lang="en-US" sz="14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50%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2000" y="3505200"/>
            <a:ext cx="993362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滿 10 年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2260600" y="3409950"/>
            <a:ext cx="4533900" cy="55880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44750" y="3552825"/>
            <a:ext cx="44796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同上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96100" y="3409950"/>
            <a:ext cx="4533900" cy="558800"/>
          </a:xfrm>
          <a:prstGeom prst="rect">
            <a:avLst/>
          </a:prstGeom>
          <a:solidFill>
            <a:srgbClr val="B4432E">
              <a:alpha val="6000"/>
            </a:srgbClr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80250" y="3552825"/>
            <a:ext cx="265323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政府提撥部分 </a:t>
            </a:r>
            <a:pPr algn="l" indent="0" marL="0">
              <a:lnSpc>
                <a:spcPts val="2100"/>
              </a:lnSpc>
              <a:buNone/>
            </a:pPr>
            <a:r>
              <a:rPr lang="en-US" sz="14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全部領回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62000" y="4146550"/>
            <a:ext cx="86250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講者依相關條例整理，申請期限與細節以《公立學校教職員退休資遣撫卹條例》《個人專戶制條例》及學校人事室說明為準。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99613" y="330200"/>
            <a:ext cx="120483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· 制度 · 新制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31264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112/7/1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後初任的年輕同事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304290"/>
            <a:ext cx="5738178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spc="56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新制的月退，是你「養」出來的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963341"/>
            <a:ext cx="350134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</a:t>
            </a:r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每月進專戶的錢（以本俸</a:t>
            </a:r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31,560 </a:t>
            </a:r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為例）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2000" y="2233216"/>
            <a:ext cx="51308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2245916"/>
            <a:ext cx="51308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3106341"/>
            <a:ext cx="51308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2000" y="2496741"/>
            <a:ext cx="138607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5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法定提撥 15%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2000" y="2768203"/>
            <a:ext cx="320752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本俸 × 2 × 15%，老師出 35%、政府出 65%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266630" y="2360216"/>
            <a:ext cx="75211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9,468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62000" y="3966766"/>
            <a:ext cx="51308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2000" y="3357166"/>
            <a:ext cx="189369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5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自願增提 0～5.25%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62000" y="3628628"/>
            <a:ext cx="350712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本俸 × 2 × 0～5.25%，老師自己選，全部進專戶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848523" y="3220641"/>
            <a:ext cx="1220391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～</a:t>
            </a:r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3,314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62000" y="4092496"/>
            <a:ext cx="4766389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自提越多，實領越少、專戶越多；工具預設 0%，先算基本盤。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99200" y="1963341"/>
            <a:ext cx="31244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</a:t>
            </a:r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專戶怎麼投資：</a:t>
            </a:r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年後大約有多少？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99200" y="2233216"/>
            <a:ext cx="51308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9200" y="2245916"/>
            <a:ext cx="51308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9200" y="2855516"/>
            <a:ext cx="51308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8900" y="2436416"/>
            <a:ext cx="64654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保守型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47359" y="2449116"/>
            <a:ext cx="73644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 2%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420842" y="2347516"/>
            <a:ext cx="86945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150"/>
              </a:lnSpc>
              <a:buNone/>
            </a:pPr>
            <a:r>
              <a:rPr lang="en-US" sz="21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575 </a:t>
            </a:r>
            <a:pPr algn="r" indent="0" marL="0">
              <a:lnSpc>
                <a:spcPts val="3150"/>
              </a:lnSpc>
              <a:buNone/>
            </a:pPr>
            <a:r>
              <a:rPr lang="en-US" sz="21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6299200" y="3465116"/>
            <a:ext cx="51308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38900" y="3046016"/>
            <a:ext cx="64654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穩健型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47359" y="3058716"/>
            <a:ext cx="73644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 4%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420842" y="2957116"/>
            <a:ext cx="86945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150"/>
              </a:lnSpc>
              <a:buNone/>
            </a:pPr>
            <a:r>
              <a:rPr lang="en-US" sz="21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865 </a:t>
            </a:r>
            <a:pPr algn="r" indent="0" marL="0">
              <a:lnSpc>
                <a:spcPts val="3150"/>
              </a:lnSpc>
              <a:buNone/>
            </a:pPr>
            <a:r>
              <a:rPr lang="en-US" sz="21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6299200" y="4074716"/>
            <a:ext cx="51308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38900" y="3655616"/>
            <a:ext cx="64654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積極型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347359" y="3668316"/>
            <a:ext cx="73644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 6%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197925" y="3566716"/>
            <a:ext cx="109237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150"/>
              </a:lnSpc>
              <a:buNone/>
            </a:pPr>
            <a:r>
              <a:rPr lang="en-US" sz="21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1,349 </a:t>
            </a:r>
            <a:pPr algn="r" indent="0" marL="0">
              <a:lnSpc>
                <a:spcPts val="3150"/>
              </a:lnSpc>
              <a:buNone/>
            </a:pPr>
            <a:r>
              <a:rPr lang="en-US" sz="21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6299200" y="4077891"/>
            <a:ext cx="5130800" cy="609600"/>
          </a:xfrm>
          <a:prstGeom prst="rect">
            <a:avLst/>
          </a:prstGeom>
          <a:solidFill>
            <a:srgbClr val="B4432E">
              <a:alpha val="7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99200" y="4684316"/>
            <a:ext cx="51308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38900" y="4265216"/>
            <a:ext cx="18588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積極型＋自提 5.25%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347359" y="4277916"/>
            <a:ext cx="73644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 6%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197925" y="4176316"/>
            <a:ext cx="109237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150"/>
              </a:lnSpc>
              <a:buNone/>
            </a:pPr>
            <a:r>
              <a:rPr lang="en-US" sz="21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1,821 </a:t>
            </a:r>
            <a:pPr algn="r" indent="0" marL="0">
              <a:lnSpc>
                <a:spcPts val="3150"/>
              </a:lnSpc>
              <a:buNone/>
            </a:pPr>
            <a:r>
              <a:rPr lang="en-US" sz="21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100" dirty="0"/>
          </a:p>
        </p:txBody>
      </p:sp>
      <p:sp>
        <p:nvSpPr>
          <p:cNvPr id="40" name="Text 38"/>
          <p:cNvSpPr txBox="1"/>
          <p:nvPr/>
        </p:nvSpPr>
        <p:spPr>
          <a:xfrm>
            <a:off x="6299200" y="4775756"/>
            <a:ext cx="4571810" cy="223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另有人生週期型（沒選就用它），年輕偏積極、越近退休越保守。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62000" y="5905500"/>
            <a:ext cx="8801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範例：25 歲初任、60 歲退休、每月固定提撥、實質報酬為假設值，僅為示意；實際報酬依市場波動，投資選項以退撫基金管理局公告為準。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99613" y="330200"/>
            <a:ext cx="120483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· 制度 · 舊制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25087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一條公式，看懂月退天花板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2000" y="1308100"/>
            <a:ext cx="10668000" cy="98425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23950" y="1539875"/>
            <a:ext cx="158477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月退上限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2696766" y="1539875"/>
            <a:ext cx="43429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b="1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3242370" y="2057400"/>
            <a:ext cx="1221085" cy="0"/>
          </a:xfrm>
          <a:prstGeom prst="line">
            <a:avLst/>
          </a:prstGeom>
          <a:noFill/>
          <a:ln w="25400">
            <a:solidFill>
              <a:srgbClr val="0F3B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2370" y="1527175"/>
            <a:ext cx="141841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本俸 × 2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666655" y="1539875"/>
            <a:ext cx="26916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b="1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064820" y="2057400"/>
            <a:ext cx="1712020" cy="0"/>
          </a:xfrm>
          <a:prstGeom prst="line">
            <a:avLst/>
          </a:prstGeom>
          <a:noFill/>
          <a:ln w="25400">
            <a:solidFill>
              <a:srgbClr val="B443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64820" y="1527175"/>
            <a:ext cx="196826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所得替代率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762000" y="2452370"/>
            <a:ext cx="551715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本俸 × 2：</a:t>
            </a:r>
            <a:pPr algn="l" indent="0" marL="0">
              <a:lnSpc>
                <a:spcPts val="208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依薪點查表；分母不是實領，本俸 × 2 通常比實領還高。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99200" y="2452370"/>
            <a:ext cx="3781711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所得替代率：</a:t>
            </a:r>
            <a:pPr algn="l" indent="0" marL="0">
              <a:lnSpc>
                <a:spcPts val="208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依年資查表，每多 1 年 +1.5%。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2000" y="3264495"/>
            <a:ext cx="10668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000" y="3277195"/>
            <a:ext cx="10668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2000" y="2934295"/>
            <a:ext cx="144286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退休年度 ＼ 年資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611578" y="2934295"/>
            <a:ext cx="49052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年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14978" y="2934295"/>
            <a:ext cx="49052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年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18378" y="2934295"/>
            <a:ext cx="49052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年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21778" y="2934295"/>
            <a:ext cx="49052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年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825178" y="2934295"/>
            <a:ext cx="49052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 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2000" y="386774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2000" y="3451820"/>
            <a:ext cx="152776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107 年（年改）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319320" y="337879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45.0%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122720" y="337879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52.5%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926120" y="337879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60.0%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729520" y="337879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67.5%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532920" y="337879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75.0%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62000" y="3870920"/>
            <a:ext cx="10668000" cy="590550"/>
          </a:xfrm>
          <a:prstGeom prst="rect">
            <a:avLst/>
          </a:prstGeom>
          <a:solidFill>
            <a:srgbClr val="B4432E">
              <a:alpha val="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62000" y="445829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2000" y="4042370"/>
            <a:ext cx="15159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現行：112 年度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413000" y="3972520"/>
            <a:ext cx="1803400" cy="381000"/>
          </a:xfrm>
          <a:prstGeom prst="rect">
            <a:avLst/>
          </a:prstGeom>
          <a:solidFill>
            <a:srgbClr val="B4432E">
              <a:alpha val="800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319320" y="396934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39.0%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4216400" y="3972520"/>
            <a:ext cx="1803400" cy="381000"/>
          </a:xfrm>
          <a:prstGeom prst="rect">
            <a:avLst/>
          </a:prstGeom>
          <a:solidFill>
            <a:srgbClr val="B4432E">
              <a:alpha val="8000"/>
            </a:srgb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122720" y="396934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46.5%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019800" y="3972520"/>
            <a:ext cx="1803400" cy="381000"/>
          </a:xfrm>
          <a:prstGeom prst="rect">
            <a:avLst/>
          </a:prstGeom>
          <a:solidFill>
            <a:srgbClr val="B4432E">
              <a:alpha val="8000"/>
            </a:srgb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926120" y="396934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54.0%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7823200" y="3972520"/>
            <a:ext cx="1803400" cy="381000"/>
          </a:xfrm>
          <a:prstGeom prst="rect">
            <a:avLst/>
          </a:prstGeom>
          <a:solidFill>
            <a:srgbClr val="B4432E">
              <a:alpha val="8000"/>
            </a:srgbClr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729520" y="396934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61.5%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9626600" y="3972520"/>
            <a:ext cx="1803400" cy="381000"/>
          </a:xfrm>
          <a:prstGeom prst="rect">
            <a:avLst/>
          </a:prstGeom>
          <a:solidFill>
            <a:srgbClr val="B4432E">
              <a:alpha val="8000"/>
            </a:srgbClr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532920" y="396934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69.0%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762000" y="5048845"/>
            <a:ext cx="10668000" cy="0"/>
          </a:xfrm>
          <a:prstGeom prst="line">
            <a:avLst/>
          </a:prstGeom>
          <a:noFill/>
          <a:ln w="6350">
            <a:solidFill>
              <a:srgbClr val="CDBFA6">
                <a:alpha val="45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62000" y="4632920"/>
            <a:ext cx="135785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trike="sngStrike" spc="-4" kern="0" dirty="0">
                <a:solidFill>
                  <a:srgbClr val="1E2420">
                    <a:alpha val="4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原訂 118 年後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3319320" y="455989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trike="sngStrike" spc="-4" kern="0" dirty="0">
                <a:solidFill>
                  <a:srgbClr val="1E2420">
                    <a:alpha val="4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30.0%</a:t>
            </a:r>
            <a:endParaRPr lang="en-US" sz="2000" dirty="0"/>
          </a:p>
        </p:txBody>
      </p:sp>
      <p:sp>
        <p:nvSpPr>
          <p:cNvPr id="48" name="Text 46"/>
          <p:cNvSpPr txBox="1"/>
          <p:nvPr/>
        </p:nvSpPr>
        <p:spPr>
          <a:xfrm>
            <a:off x="5122720" y="455989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trike="sngStrike" spc="-4" kern="0" dirty="0">
                <a:solidFill>
                  <a:srgbClr val="1E2420">
                    <a:alpha val="4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37.5%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6926120" y="455989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trike="sngStrike" spc="-4" kern="0" dirty="0">
                <a:solidFill>
                  <a:srgbClr val="1E2420">
                    <a:alpha val="4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45.0%</a:t>
            </a:r>
            <a:endParaRPr lang="en-US" sz="2000" dirty="0"/>
          </a:p>
        </p:txBody>
      </p:sp>
      <p:sp>
        <p:nvSpPr>
          <p:cNvPr id="50" name="Text 48"/>
          <p:cNvSpPr txBox="1"/>
          <p:nvPr/>
        </p:nvSpPr>
        <p:spPr>
          <a:xfrm>
            <a:off x="8729520" y="455989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trike="sngStrike" spc="-4" kern="0" dirty="0">
                <a:solidFill>
                  <a:srgbClr val="1E2420">
                    <a:alpha val="4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52.5%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10532920" y="4559895"/>
            <a:ext cx="7827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trike="sngStrike" spc="-4" kern="0" dirty="0">
                <a:solidFill>
                  <a:srgbClr val="1E2420">
                    <a:alpha val="4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60.0%</a:t>
            </a:r>
            <a:endParaRPr lang="en-US" sz="2000" dirty="0"/>
          </a:p>
        </p:txBody>
      </p:sp>
      <p:sp>
        <p:nvSpPr>
          <p:cNvPr id="52" name="Text 50"/>
          <p:cNvSpPr txBox="1"/>
          <p:nvPr/>
        </p:nvSpPr>
        <p:spPr>
          <a:xfrm>
            <a:off x="762000" y="5191720"/>
            <a:ext cx="96638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114 年 12 月立法院三讀停止調降，不論何時退休皆以 112 年度上限計；行政院、考試院已聲請釋憲，以憲法法庭判決及主管機關公告為準。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99613" y="330200"/>
            <a:ext cx="120483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· 制度 · 查表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65796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所得替代率怎麼查？找到你的年資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62000" y="1666875"/>
            <a:ext cx="3683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1679575"/>
            <a:ext cx="3683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2606675"/>
            <a:ext cx="3683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2000" y="1803400"/>
            <a:ext cx="24938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168400" y="1822450"/>
            <a:ext cx="30327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算年資：退休年齡 − 初任年齡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68400" y="2178050"/>
            <a:ext cx="19222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60 − 25 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35 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2000" y="3533775"/>
            <a:ext cx="3683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30500"/>
            <a:ext cx="24938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168400" y="2749550"/>
            <a:ext cx="232097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查表：找到年資那一格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68400" y="3105150"/>
            <a:ext cx="166189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 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69%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2000" y="4460875"/>
            <a:ext cx="3683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2000" y="3657600"/>
            <a:ext cx="24938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1168400" y="3676650"/>
            <a:ext cx="27353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算上限：本俸 × 2 × 替代率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68400" y="4032250"/>
            <a:ext cx="290749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54,160 × 2 × 69% 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74,741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62000" y="4610259"/>
            <a:ext cx="3756660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8"/>
              </a:lnSpc>
              <a:buNone/>
            </a:pPr>
            <a:r>
              <a:rPr lang="en-US" sz="115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年資滿 15 年才能領月退；不滿一年的月數按比例加計。</a:t>
            </a:r>
            <a:endParaRPr lang="en-US" sz="1150" dirty="0"/>
          </a:p>
          <a:p>
            <a:pPr algn="l" indent="0" marL="0">
              <a:lnSpc>
                <a:spcPts val="1898"/>
              </a:lnSpc>
              <a:buNone/>
            </a:pPr>
            <a:r>
              <a:rPr lang="en-US" sz="115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35 年每年再 +0.5%，最多算到 40 年（71.5%）。</a:t>
            </a:r>
            <a:endParaRPr lang="en-US" sz="1150" dirty="0"/>
          </a:p>
          <a:p>
            <a:pPr algn="l" indent="0" marL="0">
              <a:lnSpc>
                <a:spcPts val="1898"/>
              </a:lnSpc>
              <a:buNone/>
            </a:pPr>
            <a:r>
              <a:rPr lang="en-US" sz="115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新制（112/7/1 後初任）看個人專戶，不查這張表。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51400" y="1971675"/>
            <a:ext cx="65786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51400" y="1984375"/>
            <a:ext cx="65786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51400" y="1660525"/>
            <a:ext cx="221929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舊制 · 112 年度上限（現行）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131127" y="1660525"/>
            <a:ext cx="150553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年資 → 所得替代率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51400" y="2428875"/>
            <a:ext cx="20742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91100" y="20859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132413" y="20510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39.0%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851400" y="2873375"/>
            <a:ext cx="20742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91100" y="25304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132413" y="24955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40.5%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851400" y="3317875"/>
            <a:ext cx="20742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91100" y="29749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132413" y="29400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42.0%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851400" y="3762375"/>
            <a:ext cx="20742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91100" y="34194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132413" y="33845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43.5%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851400" y="4206875"/>
            <a:ext cx="20742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91100" y="38639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132413" y="38290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45.0%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4851400" y="4651375"/>
            <a:ext cx="20742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91100" y="43084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132413" y="42735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46.5%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4851400" y="5095875"/>
            <a:ext cx="20742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991100" y="47529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132413" y="47180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48.0%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7103467" y="2428875"/>
            <a:ext cx="2074366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243167" y="20859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384580" y="20510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49.5%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7103467" y="2873375"/>
            <a:ext cx="2074366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243167" y="25304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8384580" y="24955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51.0%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7103467" y="3317875"/>
            <a:ext cx="2074366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243167" y="29749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8384580" y="29400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52.5%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7103467" y="3762375"/>
            <a:ext cx="2074366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243167" y="34194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8384580" y="33845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54.0%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7103467" y="4206875"/>
            <a:ext cx="2074366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243167" y="38639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8384580" y="38290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55.5%</a:t>
            </a:r>
            <a:endParaRPr lang="en-US" sz="2000" dirty="0"/>
          </a:p>
        </p:txBody>
      </p:sp>
      <p:sp>
        <p:nvSpPr>
          <p:cNvPr id="62" name="Shape 60"/>
          <p:cNvSpPr/>
          <p:nvPr/>
        </p:nvSpPr>
        <p:spPr>
          <a:xfrm>
            <a:off x="7103467" y="4651375"/>
            <a:ext cx="2074366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243167" y="43084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8384580" y="42735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57.0%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7103467" y="5095875"/>
            <a:ext cx="2074366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243167" y="47529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8384580" y="47180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58.5%</a:t>
            </a:r>
            <a:endParaRPr lang="en-US" sz="2000" dirty="0"/>
          </a:p>
        </p:txBody>
      </p:sp>
      <p:sp>
        <p:nvSpPr>
          <p:cNvPr id="68" name="Shape 66"/>
          <p:cNvSpPr/>
          <p:nvPr/>
        </p:nvSpPr>
        <p:spPr>
          <a:xfrm>
            <a:off x="9355634" y="2428875"/>
            <a:ext cx="20742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495334" y="20859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10636647" y="20510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60.0%</a:t>
            </a:r>
            <a:endParaRPr lang="en-US" sz="2000" dirty="0"/>
          </a:p>
        </p:txBody>
      </p:sp>
      <p:sp>
        <p:nvSpPr>
          <p:cNvPr id="71" name="Shape 69"/>
          <p:cNvSpPr/>
          <p:nvPr/>
        </p:nvSpPr>
        <p:spPr>
          <a:xfrm>
            <a:off x="9355634" y="2873375"/>
            <a:ext cx="20742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495334" y="25304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10636647" y="24955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61.5%</a:t>
            </a:r>
            <a:endParaRPr lang="en-US" sz="2000" dirty="0"/>
          </a:p>
        </p:txBody>
      </p:sp>
      <p:sp>
        <p:nvSpPr>
          <p:cNvPr id="74" name="Shape 72"/>
          <p:cNvSpPr/>
          <p:nvPr/>
        </p:nvSpPr>
        <p:spPr>
          <a:xfrm>
            <a:off x="9355634" y="3317875"/>
            <a:ext cx="20742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495334" y="29749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636647" y="29400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63.0%</a:t>
            </a:r>
            <a:endParaRPr lang="en-US" sz="2000" dirty="0"/>
          </a:p>
        </p:txBody>
      </p:sp>
      <p:sp>
        <p:nvSpPr>
          <p:cNvPr id="77" name="Shape 75"/>
          <p:cNvSpPr/>
          <p:nvPr/>
        </p:nvSpPr>
        <p:spPr>
          <a:xfrm>
            <a:off x="9355634" y="3762375"/>
            <a:ext cx="20742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495334" y="34194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10636647" y="33845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64.5%</a:t>
            </a:r>
            <a:endParaRPr lang="en-US" sz="2000" dirty="0"/>
          </a:p>
        </p:txBody>
      </p:sp>
      <p:sp>
        <p:nvSpPr>
          <p:cNvPr id="80" name="Shape 78"/>
          <p:cNvSpPr/>
          <p:nvPr/>
        </p:nvSpPr>
        <p:spPr>
          <a:xfrm>
            <a:off x="9355634" y="4206875"/>
            <a:ext cx="20742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495334" y="38639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10636647" y="38290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66.0%</a:t>
            </a:r>
            <a:endParaRPr lang="en-US" sz="2000" dirty="0"/>
          </a:p>
        </p:txBody>
      </p:sp>
      <p:sp>
        <p:nvSpPr>
          <p:cNvPr id="83" name="Shape 81"/>
          <p:cNvSpPr/>
          <p:nvPr/>
        </p:nvSpPr>
        <p:spPr>
          <a:xfrm>
            <a:off x="9355634" y="4651375"/>
            <a:ext cx="20742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9495334" y="43084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10636647" y="42735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67.5%</a:t>
            </a:r>
            <a:endParaRPr lang="en-US" sz="2000" dirty="0"/>
          </a:p>
        </p:txBody>
      </p:sp>
      <p:sp>
        <p:nvSpPr>
          <p:cNvPr id="86" name="Shape 84"/>
          <p:cNvSpPr/>
          <p:nvPr/>
        </p:nvSpPr>
        <p:spPr>
          <a:xfrm>
            <a:off x="9355634" y="4654550"/>
            <a:ext cx="2074267" cy="444500"/>
          </a:xfrm>
          <a:prstGeom prst="rect">
            <a:avLst/>
          </a:prstGeom>
          <a:solidFill>
            <a:srgbClr val="B4432E"/>
          </a:solidFill>
          <a:ln/>
        </p:spPr>
      </p:sp>
      <p:sp>
        <p:nvSpPr>
          <p:cNvPr id="87" name="Shape 85"/>
          <p:cNvSpPr/>
          <p:nvPr/>
        </p:nvSpPr>
        <p:spPr>
          <a:xfrm>
            <a:off x="9355634" y="5095875"/>
            <a:ext cx="20742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495334" y="4752975"/>
            <a:ext cx="5246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年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10636647" y="4718050"/>
            <a:ext cx="7827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spc="-4" kern="0" dirty="0">
                <a:solidFill>
                  <a:srgbClr val="F2EC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69.0%</a:t>
            </a:r>
            <a:endParaRPr lang="en-US" sz="2000" dirty="0"/>
          </a:p>
        </p:txBody>
      </p:sp>
      <p:sp>
        <p:nvSpPr>
          <p:cNvPr id="90" name="Text 88"/>
          <p:cNvSpPr txBox="1"/>
          <p:nvPr/>
        </p:nvSpPr>
        <p:spPr>
          <a:xfrm>
            <a:off x="4851400" y="5213350"/>
            <a:ext cx="533490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每多 1 年 +1.5%。依《公立學校教職員退休資遣撫卹條例》第 37 條附表三。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086677" y="330200"/>
            <a:ext cx="155532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· 制度 · 試算範例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469604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·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示範老師（虛構，和學習單範例同一人）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308100"/>
            <a:ext cx="53759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學士・年功薪 625</a:t>
            </a:r>
            <a:endParaRPr lang="en-US" sz="30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年資 35 年・現行上限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2399030"/>
            <a:ext cx="537591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歲初任、60 歲退休，查表 35 年 → 69%。</a:t>
            </a:r>
            <a:endParaRPr lang="en-US" sz="17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月退上限約 7.5 萬，這是法定天花板；</a:t>
            </a:r>
            <a:endParaRPr lang="en-US" sz="17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實際金額以退休金試算工具為準。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04000" y="2143125"/>
            <a:ext cx="4826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04000" y="2155825"/>
            <a:ext cx="4826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4000" y="2809875"/>
            <a:ext cx="4826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04000" y="2349500"/>
            <a:ext cx="296516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本俸（薪點 625）</a:t>
            </a:r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algn="l" indent="0" marL="0">
              <a:lnSpc>
                <a:spcPts val="24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114 年待遇表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664627" y="2270125"/>
            <a:ext cx="90801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54,160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604000" y="3463925"/>
            <a:ext cx="4826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04000" y="3003550"/>
            <a:ext cx="13362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2</a:t>
            </a:r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algn="l" indent="0" marL="0">
              <a:lnSpc>
                <a:spcPts val="24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本俸加一倍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25423" y="2924175"/>
            <a:ext cx="1063927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108,320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604000" y="4117975"/>
            <a:ext cx="4826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04000" y="3657600"/>
            <a:ext cx="259411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替代率</a:t>
            </a:r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algn="l" indent="0" marL="0">
              <a:lnSpc>
                <a:spcPts val="24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 年 · 112 年度上限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19321" y="3578225"/>
            <a:ext cx="6227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69%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604000" y="4124325"/>
            <a:ext cx="4826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4000" y="4137025"/>
            <a:ext cx="4826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4000" y="4905375"/>
            <a:ext cx="4826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04000" y="4413250"/>
            <a:ext cx="9589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月退上限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455077" y="4254500"/>
            <a:ext cx="1142714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74,741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40652" y="330200"/>
            <a:ext cx="149486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02 · 15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1350367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133562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02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2110502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退休金試算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1709896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舊制、新制擇一填寫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697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2411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299573"/>
            <a:ext cx="2907379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輸入預計退休年齡（58 歲起支）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1841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555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2813923"/>
            <a:ext cx="243365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舊制：月退＋公保一次給付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6984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698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328273"/>
            <a:ext cx="243365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新制：專戶月領＋公保年金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2128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7842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3842623"/>
            <a:ext cx="1847580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每月可領 → 寫進 B1</a:t>
            </a:r>
            <a:endParaRPr lang="en-US" sz="1400" dirty="0"/>
          </a:p>
        </p:txBody>
      </p:sp>
      <p:pic>
        <p:nvPicPr>
          <p:cNvPr id="22" name="Image 0" descr="/tmp/claude-0/pptx/data/s18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1658"/>
            <a:ext cx="825500" cy="116304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頁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739900" y="5105400"/>
            <a:ext cx="2171700" cy="990600"/>
          </a:xfrm>
          <a:prstGeom prst="rect">
            <a:avLst/>
          </a:prstGeom>
          <a:solidFill>
            <a:srgbClr val="F2ECE1"/>
          </a:solidFill>
          <a:ln/>
        </p:spPr>
      </p:sp>
      <p:pic>
        <p:nvPicPr>
          <p:cNvPr id="25" name="Image 1" descr="/tmp/claude-0/pptx/data/s18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0" y="5181600"/>
            <a:ext cx="838200" cy="8382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755900" y="5359400"/>
            <a:ext cx="78822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手機掃描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2755900" y="5648325"/>
            <a:ext cx="104259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開啟並加入書籤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4495800" y="1776413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10038060" y="1752600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495800" y="2051050"/>
            <a:ext cx="6934200" cy="3244850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31" name="Image 2" descr="/tmp/claude-0/pptx/data/s18_im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700" y="2139950"/>
            <a:ext cx="6756102" cy="306705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D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261769" y="1895475"/>
            <a:ext cx="191936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INTERMISSION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90616" y="2139950"/>
            <a:ext cx="2302748" cy="181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00"/>
              </a:lnSpc>
              <a:buNone/>
            </a:pPr>
            <a:r>
              <a:rPr lang="en-US" sz="13000" spc="-4" kern="0" dirty="0">
                <a:solidFill>
                  <a:srgbClr val="0F3B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10′</a:t>
            </a:r>
            <a:endParaRPr lang="en-US" sz="13000" dirty="0"/>
          </a:p>
        </p:txBody>
      </p:sp>
      <p:sp>
        <p:nvSpPr>
          <p:cNvPr id="5" name="Text 3"/>
          <p:cNvSpPr txBox="1"/>
          <p:nvPr/>
        </p:nvSpPr>
        <p:spPr>
          <a:xfrm>
            <a:off x="4142978" y="3962400"/>
            <a:ext cx="4425569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休息一下，數字不會跑掉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900884" y="4673600"/>
            <a:ext cx="496785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回來後：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看清你現在每個月花多少（學習單第 3 頁）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295309" y="3124200"/>
            <a:ext cx="2512774" cy="330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0"/>
              </a:lnSpc>
              <a:buNone/>
            </a:pPr>
            <a:r>
              <a:rPr lang="en-US" sz="26000" spc="-4" kern="0" dirty="0">
                <a:solidFill>
                  <a:srgbClr val="174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2600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1997075"/>
            <a:ext cx="508998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TWO · 70′–100′ · 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學習單第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89000" y="2498725"/>
            <a:ext cx="4660404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先看清楚，</a:t>
            </a:r>
            <a:endParaRPr lang="en-US" sz="6000" dirty="0"/>
          </a:p>
          <a:p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</a:t>
            </a:r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</a:t>
            </a:r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花多少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89000" y="4530725"/>
            <a:ext cx="415186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退休太遙遠，今天的月支出最有真實感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831413" y="330200"/>
            <a:ext cx="72121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II · 現況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46785"/>
            <a:ext cx="7479173" cy="48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spc="6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退休後要花多少？不必精算，先粗估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846560"/>
            <a:ext cx="5130800" cy="2834481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8550" y="2157710"/>
            <a:ext cx="7893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98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常見做法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8550" y="2494260"/>
            <a:ext cx="203938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所得替代法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098550" y="3640435"/>
            <a:ext cx="44577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8550" y="3180060"/>
            <a:ext cx="25024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退休前月收入 × 70–80%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8550" y="3792200"/>
            <a:ext cx="441934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400" spc="-4" kern="0" dirty="0">
                <a:solidFill>
                  <a:srgbClr val="1E2420">
                    <a:alpha val="8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好算，但要先知道自己的月收入，適合當參考值。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99200" y="1846560"/>
            <a:ext cx="5130800" cy="2834481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2151360"/>
            <a:ext cx="9740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98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今天用這把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487910"/>
            <a:ext cx="203938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現況支出法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629400" y="3634085"/>
            <a:ext cx="4470400" cy="0"/>
          </a:xfrm>
          <a:prstGeom prst="line">
            <a:avLst/>
          </a:prstGeom>
          <a:noFill/>
          <a:ln w="6350">
            <a:solidFill>
              <a:srgbClr val="D8C197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3173710"/>
            <a:ext cx="325175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退休後月支出 ≈ 現在的月均支出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785850"/>
            <a:ext cx="4559808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400" spc="-4" kern="0" dirty="0">
                <a:solidFill>
                  <a:srgbClr val="F2ECE1">
                    <a:alpha val="8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房貸、車貸、子女教育可能沒了，但醫療、旅遊會增加，一來一往，用現在的支出最有真實感。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72154" y="330200"/>
            <a:ext cx="19075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03 ①② · 12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1952526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201004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03 · ①②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2522442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每月收支體檢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3184636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左邊小格打草稿，右邊合計照順序輸入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697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2411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299573"/>
            <a:ext cx="2885599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收入 ⓐⓑⓒ：固定、額外、獎金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1841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555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2813923"/>
            <a:ext cx="2488438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支出 ⓓⓔⓕ：固定到一次性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6984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698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328273"/>
            <a:ext cx="243365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黃色「整年」格：填一整年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2128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7842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3842623"/>
            <a:ext cx="203649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六個合計依序輸入工具</a:t>
            </a:r>
            <a:endParaRPr lang="en-US" sz="1400" dirty="0"/>
          </a:p>
        </p:txBody>
      </p:sp>
      <p:pic>
        <p:nvPicPr>
          <p:cNvPr id="22" name="Image 0" descr="/tmp/claude-0/pptx/data/s22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1658"/>
            <a:ext cx="825500" cy="116304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頁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739900" y="5105400"/>
            <a:ext cx="2171700" cy="990600"/>
          </a:xfrm>
          <a:prstGeom prst="rect">
            <a:avLst/>
          </a:prstGeom>
          <a:solidFill>
            <a:srgbClr val="F2ECE1"/>
          </a:solidFill>
          <a:ln/>
        </p:spPr>
      </p:sp>
      <p:pic>
        <p:nvPicPr>
          <p:cNvPr id="25" name="Image 1" descr="/tmp/claude-0/pptx/data/s22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0" y="5181600"/>
            <a:ext cx="838200" cy="8382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755900" y="5359400"/>
            <a:ext cx="78822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手機掃描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2755900" y="5648325"/>
            <a:ext cx="104259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開啟並加入書籤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4495800" y="1310977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10038060" y="1287165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495800" y="1585615"/>
            <a:ext cx="6934200" cy="4175621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31" name="Image 2" descr="/tmp/claude-0/pptx/data/s22_im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700" y="1674515"/>
            <a:ext cx="6756202" cy="3997821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023078" y="330200"/>
            <a:ext cx="162655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03 ③ · 6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1807865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18480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03 · ③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2522442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收支體檢結果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2262965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工具算好的數字，抄回紅框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697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2411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299573"/>
            <a:ext cx="1913366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抄 C1 收入、C2 支出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1841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555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2813923"/>
            <a:ext cx="1994932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C3 月儲蓄 ＝ C1 − C2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6984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698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328273"/>
            <a:ext cx="1679670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儲蓄率 ＝ C3 ÷ C1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2128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7842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3842623"/>
            <a:ext cx="2447877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參考：所得替代法 C1 × 0.7</a:t>
            </a:r>
            <a:endParaRPr lang="en-US" sz="1400" dirty="0"/>
          </a:p>
        </p:txBody>
      </p:sp>
      <p:pic>
        <p:nvPicPr>
          <p:cNvPr id="22" name="Image 0" descr="/tmp/claude-0/pptx/data/s23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1658"/>
            <a:ext cx="825500" cy="116304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頁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495800" y="2523827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038060" y="2500015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95800" y="2798465"/>
            <a:ext cx="6934200" cy="1749921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27" name="Image 1" descr="/tmp/claude-0/pptx/data/s23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00" y="2887365"/>
            <a:ext cx="6756202" cy="1572121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248775" y="330200"/>
            <a:ext cx="249377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II · 現況 · 為什麼用現在的支出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483862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退休後的支出，一來一往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62000" y="1765300"/>
            <a:ext cx="3403600" cy="240030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6950" y="1971675"/>
            <a:ext cx="90913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b="1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消失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96950" y="2508250"/>
            <a:ext cx="2992374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房貸（若已繳清）</a:t>
            </a:r>
            <a:endParaRPr lang="en-US" sz="150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子女教育費</a:t>
            </a:r>
            <a:endParaRPr lang="en-US" sz="150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通勤油錢</a:t>
            </a:r>
            <a:endParaRPr lang="en-US" sz="150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退撫自提、儲蓄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94200" y="1765300"/>
            <a:ext cx="3403600" cy="240030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9150" y="1971675"/>
            <a:ext cx="137796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b="1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差不多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29150" y="2508250"/>
            <a:ext cx="2992374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伙食、水電瓦斯</a:t>
            </a:r>
            <a:endParaRPr lang="en-US" sz="150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電信網路</a:t>
            </a:r>
            <a:endParaRPr lang="en-US" sz="150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日常用品</a:t>
            </a:r>
            <a:endParaRPr lang="en-US" sz="150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保險（視保單）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26400" y="1765300"/>
            <a:ext cx="3403600" cy="240030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61350" y="1971675"/>
            <a:ext cx="90913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↑ 增加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261350" y="2508250"/>
            <a:ext cx="2992374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醫療與保健</a:t>
            </a:r>
            <a:endParaRPr lang="en-US" sz="150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旅遊與興趣</a:t>
            </a:r>
            <a:endParaRPr lang="en-US" sz="150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長照預備金</a:t>
            </a:r>
            <a:endParaRPr lang="en-US" sz="150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孝親、紅白包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061873" y="330200"/>
            <a:ext cx="158310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03 D · 6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1767582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180290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03 · 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2934383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退休後每月餘裕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34975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月退 − 月支出：大於 0 月退夠用，小於 0 差額要自己補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909094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480469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538889"/>
            <a:ext cx="1759125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翻回第 2 頁，抄 B1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423444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994819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3053239"/>
            <a:ext cx="2002377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再抄一次 C2 月均支出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937794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509169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567589"/>
            <a:ext cx="1241727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相減，寫進 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452144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4023519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4081939"/>
            <a:ext cx="214617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封面「有根據」填上 C2</a:t>
            </a:r>
            <a:endParaRPr lang="en-US" sz="1400" dirty="0"/>
          </a:p>
        </p:txBody>
      </p:sp>
      <p:pic>
        <p:nvPicPr>
          <p:cNvPr id="22" name="Image 0" descr="/tmp/claude-0/pptx/data/s25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1658"/>
            <a:ext cx="825500" cy="116304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頁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495800" y="2639616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038060" y="2615803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95800" y="2914253"/>
            <a:ext cx="6934200" cy="1518444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27" name="Image 1" descr="/tmp/claude-0/pptx/data/s25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00" y="3003153"/>
            <a:ext cx="6756202" cy="134064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96163" y="3124200"/>
            <a:ext cx="3743817" cy="330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0"/>
              </a:lnSpc>
              <a:buNone/>
            </a:pPr>
            <a:r>
              <a:rPr lang="en-US" sz="26000" spc="-4" kern="0" dirty="0">
                <a:solidFill>
                  <a:srgbClr val="174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2600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1997075"/>
            <a:ext cx="555704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THREE · 100′–124′ · 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學習單第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89000" y="2498725"/>
            <a:ext cx="5014615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理財之前，</a:t>
            </a:r>
            <a:endParaRPr lang="en-US" sz="6000" dirty="0"/>
          </a:p>
          <a:p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</a:t>
            </a:r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</a:t>
            </a:r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你有的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89000" y="4530725"/>
            <a:ext cx="415186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淨值、財富階梯、負債比、緊急預備金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288488" y="330200"/>
            <a:ext cx="132929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III · 盤點 · 淨值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21691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淨值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負債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306195"/>
            <a:ext cx="7253034" cy="441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b="1" spc="58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淨值 470 萬，真正動得了的只有 150 萬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2083395"/>
            <a:ext cx="56175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2426295"/>
            <a:ext cx="63476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970 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714500" y="2004020"/>
            <a:ext cx="7213600" cy="787400"/>
          </a:xfrm>
          <a:prstGeom prst="rect">
            <a:avLst/>
          </a:prstGeom>
          <a:solidFill>
            <a:srgbClr val="E8DFC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841500" y="2110085"/>
            <a:ext cx="78822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房屋現值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841500" y="2354560"/>
            <a:ext cx="947690" cy="32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800 </a:t>
            </a:r>
            <a:pPr algn="l" indent="0" marL="0">
              <a:lnSpc>
                <a:spcPts val="2530"/>
              </a:lnSpc>
              <a:buNone/>
            </a:pPr>
            <a:r>
              <a:rPr lang="en-US" sz="23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8953500" y="2004020"/>
            <a:ext cx="1530350" cy="7874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80500" y="2110085"/>
            <a:ext cx="97258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存款＋投資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080500" y="2354560"/>
            <a:ext cx="947690" cy="32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spc="-4" kern="0" dirty="0">
                <a:solidFill>
                  <a:srgbClr val="F2EC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170 </a:t>
            </a:r>
            <a:pPr algn="l" indent="0" marL="0">
              <a:lnSpc>
                <a:spcPts val="2530"/>
              </a:lnSpc>
              <a:buNone/>
            </a:pPr>
            <a:r>
              <a:rPr lang="en-US" sz="23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762000" y="3124795"/>
            <a:ext cx="56175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負債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62000" y="3467695"/>
            <a:ext cx="63476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500 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714500" y="3045420"/>
            <a:ext cx="4330700" cy="787400"/>
          </a:xfrm>
          <a:prstGeom prst="rect">
            <a:avLst/>
          </a:prstGeom>
          <a:solidFill>
            <a:srgbClr val="E7C9B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841500" y="3151485"/>
            <a:ext cx="41951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841500" y="3395960"/>
            <a:ext cx="947690" cy="32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480 </a:t>
            </a:r>
            <a:pPr algn="l" indent="0" marL="0">
              <a:lnSpc>
                <a:spcPts val="2530"/>
              </a:lnSpc>
              <a:buNone/>
            </a:pPr>
            <a:r>
              <a:rPr lang="en-US" sz="23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6070600" y="3045420"/>
            <a:ext cx="254000" cy="787400"/>
          </a:xfrm>
          <a:prstGeom prst="rect">
            <a:avLst/>
          </a:prstGeom>
          <a:solidFill>
            <a:srgbClr val="D9A8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26200" y="3321645"/>
            <a:ext cx="106059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← 車貸 20 萬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62000" y="4166195"/>
            <a:ext cx="56175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淨值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62000" y="4509095"/>
            <a:ext cx="63476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470 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714500" y="4086820"/>
            <a:ext cx="2882900" cy="787400"/>
          </a:xfrm>
          <a:prstGeom prst="rect">
            <a:avLst/>
          </a:prstGeom>
          <a:solidFill>
            <a:srgbClr val="E8DFC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841500" y="4192885"/>
            <a:ext cx="78822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房屋淨值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841500" y="4437360"/>
            <a:ext cx="947690" cy="32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320 </a:t>
            </a:r>
            <a:pPr algn="l" indent="0" marL="0">
              <a:lnSpc>
                <a:spcPts val="2530"/>
              </a:lnSpc>
              <a:buNone/>
            </a:pPr>
            <a:r>
              <a:rPr lang="en-US" sz="23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4622800" y="4086820"/>
            <a:ext cx="1352550" cy="787400"/>
          </a:xfrm>
          <a:prstGeom prst="rect">
            <a:avLst/>
          </a:prstGeom>
          <a:solidFill>
            <a:srgbClr val="B443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49800" y="4192885"/>
            <a:ext cx="97258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動得了的錢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749800" y="4437360"/>
            <a:ext cx="947690" cy="32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spc="-4" kern="0" dirty="0">
                <a:solidFill>
                  <a:srgbClr val="F2EC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150 </a:t>
            </a:r>
            <a:pPr algn="l" indent="0" marL="0">
              <a:lnSpc>
                <a:spcPts val="2530"/>
              </a:lnSpc>
              <a:buNone/>
            </a:pPr>
            <a:r>
              <a:rPr lang="en-US" sz="23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300" dirty="0"/>
          </a:p>
        </p:txBody>
      </p:sp>
      <p:sp>
        <p:nvSpPr>
          <p:cNvPr id="31" name="Text 29"/>
          <p:cNvSpPr txBox="1"/>
          <p:nvPr/>
        </p:nvSpPr>
        <p:spPr>
          <a:xfrm>
            <a:off x="762000" y="5279350"/>
            <a:ext cx="8735663" cy="34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房子不會生出現金流，也不能拿來定期定額；</a:t>
            </a:r>
            <a:pPr algn="l" indent="0" marL="0">
              <a:lnSpc>
                <a:spcPts val="2720"/>
              </a:lnSpc>
              <a:buNone/>
            </a:pPr>
            <a:r>
              <a:rPr lang="en-US" sz="17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不含房子的淨資產</a:t>
            </a:r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才是理財的起點。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975552" y="330200"/>
            <a:ext cx="167978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III · 盤點 · 財富階梯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45570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《財富階梯》尼克．馬朱利（《持續買進》作者）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304290"/>
            <a:ext cx="776932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spc="56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淨資產決定你站在哪一階，每階的功課不同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3658791"/>
            <a:ext cx="10727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月光求生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4036616"/>
            <a:ext cx="109437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30 萬以下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4335066"/>
            <a:ext cx="22624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存緊急預備金，避開惡性負債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4909741"/>
            <a:ext cx="2052340" cy="825500"/>
          </a:xfrm>
          <a:prstGeom prst="rect">
            <a:avLst/>
          </a:prstGeom>
          <a:solidFill>
            <a:srgbClr val="E8DFC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5024041"/>
            <a:ext cx="27782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455841"/>
            <a:ext cx="8161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1E2420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 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1E2420">
                    <a:alpha val="8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萬美元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15940" y="3214291"/>
            <a:ext cx="10727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初步緩衝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915940" y="3592116"/>
            <a:ext cx="113482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30–300 萬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15940" y="3890566"/>
            <a:ext cx="20933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投資自己，學核心技能、提升主動收入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15940" y="4465241"/>
            <a:ext cx="2052340" cy="1270000"/>
          </a:xfrm>
          <a:prstGeom prst="rect">
            <a:avLst/>
          </a:prstGeom>
          <a:solidFill>
            <a:srgbClr val="D8C19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068340" y="4579541"/>
            <a:ext cx="27782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3068340" y="5405041"/>
            <a:ext cx="90124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1E2420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1–10 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1E2420">
                    <a:alpha val="8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萬美元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69880" y="2769791"/>
            <a:ext cx="10727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有感累積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069880" y="3147616"/>
            <a:ext cx="139007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300–3,000 萬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69880" y="3446066"/>
            <a:ext cx="20933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用錢滾錢，靠長期投資放大資產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69880" y="4020741"/>
            <a:ext cx="2052340" cy="17145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22280" y="4135041"/>
            <a:ext cx="27782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4" kern="0" dirty="0">
                <a:solidFill>
                  <a:srgbClr val="F2EC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5222280" y="5405041"/>
            <a:ext cx="10713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F2ECE1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10–100 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F2ECE1">
                    <a:alpha val="8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萬美元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223820" y="2325291"/>
            <a:ext cx="10727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事業加速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23820" y="2703116"/>
            <a:ext cx="142074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3,000 萬–3 億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23820" y="3001566"/>
            <a:ext cx="20933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靠薪資難躍升，要拓展事業或創業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820" y="3576241"/>
            <a:ext cx="2052340" cy="2159000"/>
          </a:xfrm>
          <a:prstGeom prst="rect">
            <a:avLst/>
          </a:prstGeom>
          <a:solidFill>
            <a:srgbClr val="174A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76220" y="3690541"/>
            <a:ext cx="27782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4" kern="0" dirty="0">
                <a:solidFill>
                  <a:srgbClr val="F2EC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7376220" y="5405041"/>
            <a:ext cx="132651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F2ECE1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100–1,000 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F2ECE1">
                    <a:alpha val="8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萬美元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377759" y="1880791"/>
            <a:ext cx="132818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擴張與守成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377759" y="2258616"/>
            <a:ext cx="9921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 億以上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377759" y="2557066"/>
            <a:ext cx="22624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大型事業、家族企業維持階級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377759" y="3131741"/>
            <a:ext cx="2052340" cy="2603500"/>
          </a:xfrm>
          <a:prstGeom prst="rect">
            <a:avLst/>
          </a:prstGeom>
          <a:solidFill>
            <a:srgbClr val="1E242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530159" y="3246041"/>
            <a:ext cx="731885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5–6</a:t>
            </a:r>
            <a:endParaRPr lang="en-US" sz="3200" dirty="0"/>
          </a:p>
        </p:txBody>
      </p:sp>
      <p:sp>
        <p:nvSpPr>
          <p:cNvPr id="37" name="Text 35"/>
          <p:cNvSpPr txBox="1"/>
          <p:nvPr/>
        </p:nvSpPr>
        <p:spPr>
          <a:xfrm>
            <a:off x="9530159" y="5405041"/>
            <a:ext cx="12696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 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>
                    <a:alpha val="8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萬美元以上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975552" y="330200"/>
            <a:ext cx="167978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III · 盤點 · 財富階梯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570917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三個原則，看懂自己的這一階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62000" y="1765300"/>
            <a:ext cx="3420467" cy="355600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2350" y="2025650"/>
            <a:ext cx="77689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76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衡量標準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2350" y="2336800"/>
            <a:ext cx="2990056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3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看淨資產，不看收入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1022350" y="2870835"/>
            <a:ext cx="2957763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資產減負債才是你真正擁有的。月薪高但負債多，不一定站得比較高。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2350" y="4371975"/>
            <a:ext cx="2899767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22350" y="4524375"/>
            <a:ext cx="295776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</a:t>
            </a:r>
            <a:pPr algn="l" indent="0" marL="0">
              <a:lnSpc>
                <a:spcPts val="2100"/>
              </a:lnSpc>
              <a:buNone/>
            </a:pPr>
            <a:r>
              <a:rPr lang="en-US" sz="14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總淨值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，就是你在階梯上的位置。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5667" y="1765300"/>
            <a:ext cx="3420566" cy="355600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46017" y="2025650"/>
            <a:ext cx="1139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76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萬分之一法則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46017" y="2336800"/>
            <a:ext cx="2010378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3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小錢不必糾結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4646017" y="2870835"/>
            <a:ext cx="2957864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消費低於淨資產的 0.01%，就是不需要反覆計較的「小錢」。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6017" y="4371975"/>
            <a:ext cx="2899866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4646017" y="4524375"/>
            <a:ext cx="295786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淨資產 470 萬 × 0.01% ＝ </a:t>
            </a:r>
            <a:pPr algn="l" indent="0" marL="0">
              <a:lnSpc>
                <a:spcPts val="2100"/>
              </a:lnSpc>
              <a:buNone/>
            </a:pPr>
            <a:r>
              <a:rPr lang="en-US" sz="14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470 元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，這以下的咖啡不用算。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09434" y="1765300"/>
            <a:ext cx="3420566" cy="355600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9784" y="2025650"/>
            <a:ext cx="77689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76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量力而行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69784" y="2336800"/>
            <a:ext cx="2663571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3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解決這一階的煩惱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8269784" y="2870835"/>
            <a:ext cx="2957864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專注眼前這一階的功課，不提前過超出自己階層的生活。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69784" y="4371975"/>
            <a:ext cx="2899866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269784" y="4524375"/>
            <a:ext cx="295786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階的功課：</a:t>
            </a:r>
            <a:pPr algn="l" indent="0" marL="0">
              <a:lnSpc>
                <a:spcPts val="2100"/>
              </a:lnSpc>
              <a:buNone/>
            </a:pPr>
            <a:r>
              <a:rPr lang="en-US" sz="14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用錢滾錢</a:t>
            </a:r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，也就是第四關的理財規劃。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866610" y="330200"/>
            <a:ext cx="180179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04 ①② · 6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1952526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201004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04 · ①②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1698562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資產總覽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3000391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資產、負債分開填，和工具一模一樣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697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2411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299573"/>
            <a:ext cx="223507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資產四格：寫現在的市值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1841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555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2813923"/>
            <a:ext cx="243365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負債三格：寫還沒還的本金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6984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698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328273"/>
            <a:ext cx="2632234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房貸寫餘額，不是每月付多少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2128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7842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3842623"/>
            <a:ext cx="203649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七個數字依序輸入工具</a:t>
            </a:r>
            <a:endParaRPr lang="en-US" sz="1400" dirty="0"/>
          </a:p>
        </p:txBody>
      </p:sp>
      <p:pic>
        <p:nvPicPr>
          <p:cNvPr id="22" name="Image 0" descr="/tmp/claude-0/pptx/data/s30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4734"/>
            <a:ext cx="825500" cy="115996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頁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739900" y="5105400"/>
            <a:ext cx="2171700" cy="990600"/>
          </a:xfrm>
          <a:prstGeom prst="rect">
            <a:avLst/>
          </a:prstGeom>
          <a:solidFill>
            <a:srgbClr val="F2ECE1"/>
          </a:solidFill>
          <a:ln/>
        </p:spPr>
      </p:sp>
      <p:pic>
        <p:nvPicPr>
          <p:cNvPr id="25" name="Image 1" descr="/tmp/claude-0/pptx/data/s30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0" y="5181600"/>
            <a:ext cx="838200" cy="8382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755900" y="5359400"/>
            <a:ext cx="78822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手機掃描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2755900" y="5648325"/>
            <a:ext cx="104259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開啟並加入書籤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4495800" y="1966813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10038060" y="1943001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495800" y="2241451"/>
            <a:ext cx="6934200" cy="2863949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31" name="Image 2" descr="/tmp/claude-0/pptx/data/s30_im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700" y="2330351"/>
            <a:ext cx="6756301" cy="2686149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023078" y="330200"/>
            <a:ext cx="162655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04 ③ · 3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1807865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18480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04 · ③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2522442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資產總覽結果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3553349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工具算好的淨值抄回紅框，再對照財富階梯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697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2411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299573"/>
            <a:ext cx="1197054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抄 E1 總淨值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1841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555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2813923"/>
            <a:ext cx="144086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總資產、總負債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6984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698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328273"/>
            <a:ext cx="2632234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不含房子的淨資產、房屋淨值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2128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7842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3842623"/>
            <a:ext cx="2830814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我在第幾階？萬分之一是多少？</a:t>
            </a:r>
            <a:endParaRPr lang="en-US" sz="1400" dirty="0"/>
          </a:p>
        </p:txBody>
      </p:sp>
      <p:pic>
        <p:nvPicPr>
          <p:cNvPr id="22" name="Image 0" descr="/tmp/claude-0/pptx/data/s31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4734"/>
            <a:ext cx="825500" cy="115996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頁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495800" y="2080220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038060" y="2056408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95800" y="2354858"/>
            <a:ext cx="6934200" cy="2637234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27" name="Image 1" descr="/tmp/claude-0/pptx/data/s31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00" y="2443758"/>
            <a:ext cx="6756202" cy="245943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32020" y="330200"/>
            <a:ext cx="15045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III · 盤點 · 負債比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27835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負債比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總負債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÷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總資產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308100"/>
            <a:ext cx="65796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負債比高不可怕，要看是哪一種債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2000" y="2070100"/>
            <a:ext cx="4445000" cy="3987701"/>
          </a:xfrm>
          <a:prstGeom prst="rect">
            <a:avLst/>
          </a:prstGeom>
          <a:solidFill>
            <a:srgbClr val="FFFFFF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47750" y="2327275"/>
            <a:ext cx="19025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96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工具畫面範例 · 負債比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2559050"/>
            <a:ext cx="20046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78%</a:t>
            </a:r>
            <a:endParaRPr lang="en-US" sz="7500" dirty="0"/>
          </a:p>
        </p:txBody>
      </p:sp>
      <p:sp>
        <p:nvSpPr>
          <p:cNvPr id="11" name="Shape 9"/>
          <p:cNvSpPr/>
          <p:nvPr/>
        </p:nvSpPr>
        <p:spPr>
          <a:xfrm>
            <a:off x="2944614" y="3175000"/>
            <a:ext cx="1014016" cy="342900"/>
          </a:xfrm>
          <a:prstGeom prst="roundRect">
            <a:avLst>
              <a:gd name="adj" fmla="val 50000"/>
            </a:avLst>
          </a:prstGeom>
          <a:solidFill>
            <a:srgbClr val="F6ECD2"/>
          </a:solidFill>
          <a:ln w="12700">
            <a:solidFill>
              <a:srgbClr val="E3CF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97014" y="3209925"/>
            <a:ext cx="8451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-4" kern="0" dirty="0">
                <a:solidFill>
                  <a:srgbClr val="8A6A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房貸為主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47750" y="3740150"/>
            <a:ext cx="3873500" cy="139700"/>
          </a:xfrm>
          <a:prstGeom prst="rect">
            <a:avLst/>
          </a:prstGeom>
          <a:solidFill>
            <a:srgbClr val="E8DF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" y="3740150"/>
            <a:ext cx="3021310" cy="139700"/>
          </a:xfrm>
          <a:prstGeom prst="rect">
            <a:avLst/>
          </a:prstGeom>
          <a:solidFill>
            <a:srgbClr val="B443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0450" y="4070350"/>
            <a:ext cx="0" cy="1131491"/>
          </a:xfrm>
          <a:prstGeom prst="line">
            <a:avLst/>
          </a:prstGeom>
          <a:noFill/>
          <a:ln w="25400">
            <a:solidFill>
              <a:srgbClr val="B08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12850" y="4068604"/>
            <a:ext cx="3782568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負債比偏高，但若主要來自房貸——這是有擔保的低利負債，剛買房的前幾年本來就會這樣，屬正常。確認每月現金流撐得住還款即可，不必焦慮。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13400" y="2070100"/>
            <a:ext cx="5816600" cy="133092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638800" y="2070100"/>
            <a:ext cx="0" cy="1330920"/>
          </a:xfrm>
          <a:prstGeom prst="line">
            <a:avLst/>
          </a:prstGeom>
          <a:noFill/>
          <a:ln w="50800">
            <a:solidFill>
              <a:srgbClr val="0F3B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80100" y="2232025"/>
            <a:ext cx="118649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房貸為主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880100" y="2661285"/>
            <a:ext cx="544068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有擔保、利率低，剛買房前幾年偏高屬正常。確認每月還款撐得住就好。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13400" y="3540720"/>
            <a:ext cx="5816600" cy="104646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22" name="Shape 20"/>
          <p:cNvSpPr/>
          <p:nvPr/>
        </p:nvSpPr>
        <p:spPr>
          <a:xfrm>
            <a:off x="5638800" y="3540720"/>
            <a:ext cx="0" cy="1046460"/>
          </a:xfrm>
          <a:prstGeom prst="line">
            <a:avLst/>
          </a:prstGeom>
          <a:noFill/>
          <a:ln w="50800">
            <a:solidFill>
              <a:srgbClr val="B443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80100" y="3702645"/>
            <a:ext cx="203827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信貸、卡債為主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880100" y="4131905"/>
            <a:ext cx="3426444" cy="28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沒擔保、利率高。先還清，再談投資。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13400" y="4726880"/>
            <a:ext cx="5816600" cy="133092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26" name="Shape 24"/>
          <p:cNvSpPr/>
          <p:nvPr/>
        </p:nvSpPr>
        <p:spPr>
          <a:xfrm>
            <a:off x="5638800" y="4726880"/>
            <a:ext cx="0" cy="1330920"/>
          </a:xfrm>
          <a:prstGeom prst="line">
            <a:avLst/>
          </a:prstGeom>
          <a:noFill/>
          <a:ln w="50800">
            <a:solidFill>
              <a:srgbClr val="0F3B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80100" y="4888805"/>
            <a:ext cx="14704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不論哪一種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880100" y="5318065"/>
            <a:ext cx="544068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身上先留 6 個月生活費當緊急預備金，遇到意外才不會被迫借錢或賣股。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023078" y="330200"/>
            <a:ext cx="162655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04 ④ · 5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1807865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18480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04 · ④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2934383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負債比與預備金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2816035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看負債的組成，再檢查緊急預備金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697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2411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299573"/>
            <a:ext cx="243365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抄負債比＋工具標示的類型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1841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555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2813923"/>
            <a:ext cx="1543431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預備金 ＝ C2 × 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6984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698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328273"/>
            <a:ext cx="163944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現金與存款夠嗎？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2128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7842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3842623"/>
            <a:ext cx="223507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不夠：先補預備金再投資</a:t>
            </a:r>
            <a:endParaRPr lang="en-US" sz="1400" dirty="0"/>
          </a:p>
        </p:txBody>
      </p:sp>
      <p:pic>
        <p:nvPicPr>
          <p:cNvPr id="22" name="Image 0" descr="/tmp/claude-0/pptx/data/s33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4734"/>
            <a:ext cx="825500" cy="115996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頁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495800" y="2229644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038060" y="2205831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95800" y="2504281"/>
            <a:ext cx="6934200" cy="2338288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27" name="Image 1" descr="/tmp/claude-0/pptx/data/s33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00" y="2593181"/>
            <a:ext cx="6756301" cy="2160488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8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DFC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261769" y="1895475"/>
            <a:ext cx="191936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INTERMISSION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503168" y="2139950"/>
            <a:ext cx="1378744" cy="181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00"/>
              </a:lnSpc>
              <a:buNone/>
            </a:pPr>
            <a:r>
              <a:rPr lang="en-US" sz="13000" spc="-4" kern="0" dirty="0">
                <a:solidFill>
                  <a:srgbClr val="0F3B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5′</a:t>
            </a:r>
            <a:endParaRPr lang="en-US" sz="13000" dirty="0"/>
          </a:p>
        </p:txBody>
      </p:sp>
      <p:sp>
        <p:nvSpPr>
          <p:cNvPr id="5" name="Text 3"/>
          <p:cNvSpPr txBox="1"/>
          <p:nvPr/>
        </p:nvSpPr>
        <p:spPr>
          <a:xfrm>
            <a:off x="4142978" y="3962400"/>
            <a:ext cx="4425569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休息一下，數字不會跑掉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615928" y="4673600"/>
            <a:ext cx="560616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回來後：</a:t>
            </a:r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假設沒有退休金，你要存多少？（學習單第 5 頁）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10227" y="3124200"/>
            <a:ext cx="3952065" cy="330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0"/>
              </a:lnSpc>
              <a:buNone/>
            </a:pPr>
            <a:r>
              <a:rPr lang="en-US" sz="26000" spc="-4" kern="0" dirty="0">
                <a:solidFill>
                  <a:srgbClr val="174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</a:t>
            </a:r>
            <a:endParaRPr lang="en-US" sz="2600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1997075"/>
            <a:ext cx="57127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FOUR · 129′–165′ · 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學習單第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5–6 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89000" y="2498725"/>
            <a:ext cx="543713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把月退當備案，</a:t>
            </a:r>
            <a:endParaRPr lang="en-US" sz="6000" dirty="0"/>
          </a:p>
          <a:p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</a:t>
            </a:r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存出</a:t>
            </a:r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本金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89000" y="4530725"/>
            <a:ext cx="487562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目標本金、每月投入、看見複利，最後總複習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976743" y="330200"/>
            <a:ext cx="167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IV · 理財 · 目標本金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27156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假設沒有退休金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4%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法則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308100"/>
            <a:ext cx="53759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現在月支出 × 12 × 25</a:t>
            </a:r>
            <a:endParaRPr lang="en-US" sz="30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 你的目標本金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2399030"/>
            <a:ext cx="537591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每年提領本金的 4%，歷史上大多能撐約 30 年；保守者用 × 30。</a:t>
            </a:r>
            <a:endParaRPr lang="en-US" sz="17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月退是備案：有它更安心，沒有也不慌。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04000" y="2143125"/>
            <a:ext cx="4826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04000" y="2155825"/>
            <a:ext cx="4826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4000" y="2809875"/>
            <a:ext cx="4826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04000" y="2349500"/>
            <a:ext cx="163999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現在的月均支出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664627" y="2270125"/>
            <a:ext cx="90801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40,000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604000" y="3463925"/>
            <a:ext cx="4826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04000" y="3003550"/>
            <a:ext cx="101458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12 個月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25423" y="2924175"/>
            <a:ext cx="1063927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480,000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604000" y="4117975"/>
            <a:ext cx="4826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04000" y="3657600"/>
            <a:ext cx="12443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25</a:t>
            </a:r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algn="l" indent="0" marL="0">
              <a:lnSpc>
                <a:spcPts val="24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4% 法則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177760" y="3578225"/>
            <a:ext cx="1453309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12,000,000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604000" y="4124325"/>
            <a:ext cx="4826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4000" y="4137025"/>
            <a:ext cx="4826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4000" y="4905375"/>
            <a:ext cx="4826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04000" y="4413250"/>
            <a:ext cx="9589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目標本金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188873" y="4254500"/>
            <a:ext cx="1440863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1,200 </a:t>
            </a:r>
            <a:pPr algn="l" indent="0" marL="0">
              <a:lnSpc>
                <a:spcPts val="4200"/>
              </a:lnSpc>
              <a:buNone/>
            </a:pPr>
            <a:r>
              <a:rPr lang="en-US" sz="28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976743" y="330200"/>
            <a:ext cx="167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IV · 理財 · 複利反推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60718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存到 1,200 萬，越早開始越便宜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495425"/>
            <a:ext cx="596142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目標本金 1,200 萬、從零開始；實質報酬 5%、每月複利，僅為示意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2124075"/>
            <a:ext cx="10668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2136775"/>
            <a:ext cx="10668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2000" y="2352675"/>
            <a:ext cx="132707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還有 30 年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222500" y="2324100"/>
            <a:ext cx="1066800" cy="4445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67100" y="2279650"/>
            <a:ext cx="203704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</a:t>
            </a:r>
            <a:pPr algn="l" indent="0" marL="0">
              <a:lnSpc>
                <a:spcPts val="4200"/>
              </a:lnSpc>
              <a:buNone/>
            </a:pPr>
            <a:r>
              <a:rPr lang="en-US" sz="28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14,420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762000" y="3165475"/>
            <a:ext cx="132707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還有 20 年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222500" y="3136900"/>
            <a:ext cx="2159000" cy="4445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59300" y="3092450"/>
            <a:ext cx="203704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</a:t>
            </a:r>
            <a:pPr algn="l" indent="0" marL="0">
              <a:lnSpc>
                <a:spcPts val="4200"/>
              </a:lnSpc>
              <a:buNone/>
            </a:pPr>
            <a:r>
              <a:rPr lang="en-US" sz="28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29,200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62000" y="3978275"/>
            <a:ext cx="132707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還有 10 年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222500" y="3949700"/>
            <a:ext cx="5715000" cy="444500"/>
          </a:xfrm>
          <a:prstGeom prst="rect">
            <a:avLst/>
          </a:prstGeom>
          <a:solidFill>
            <a:srgbClr val="B443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15300" y="3905250"/>
            <a:ext cx="203704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</a:t>
            </a:r>
            <a:pPr algn="l" indent="0" marL="0">
              <a:lnSpc>
                <a:spcPts val="4200"/>
              </a:lnSpc>
              <a:buNone/>
            </a:pPr>
            <a:r>
              <a:rPr lang="en-US" sz="28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77,280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62000" y="4879975"/>
            <a:ext cx="723269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 20 年開始，每月要付 </a:t>
            </a:r>
            <a:pPr algn="l" indent="0" marL="0">
              <a:lnSpc>
                <a:spcPts val="2550"/>
              </a:lnSpc>
              <a:buNone/>
            </a:pPr>
            <a:r>
              <a:rPr lang="en-US" sz="17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倍以上</a:t>
            </a:r>
            <a:pPr algn="l" indent="0" marL="0">
              <a:lnSpc>
                <a:spcPts val="2550"/>
              </a:lnSpc>
              <a:buNone/>
            </a:pPr>
            <a:r>
              <a:rPr lang="en-US" sz="17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。複利不是魔法，是時間的租金。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37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289679" y="330200"/>
            <a:ext cx="13279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IV · 理財 · 複利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48690"/>
            <a:ext cx="5670502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spc="56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 5,000 元，看複利怎麼長大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452166"/>
            <a:ext cx="460770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定期定額，假設實質年報酬 5%（每月複利），僅為示意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83659" y="4360466"/>
            <a:ext cx="880682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26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 </a:t>
            </a:r>
            <a:pPr algn="ctr" indent="0" marL="0">
              <a:lnSpc>
                <a:spcPts val="3900"/>
              </a:lnSpc>
              <a:buNone/>
            </a:pPr>
            <a:r>
              <a:rPr lang="en-US" sz="26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62000" y="4909741"/>
            <a:ext cx="1524000" cy="114300"/>
          </a:xfrm>
          <a:prstGeom prst="rect">
            <a:avLst/>
          </a:prstGeom>
          <a:solidFill>
            <a:srgbClr val="B4432E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5024041"/>
            <a:ext cx="1524000" cy="381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35338" y="5109766"/>
            <a:ext cx="77722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本金 </a:t>
            </a:r>
            <a:pPr algn="ctr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萬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27677" y="5506641"/>
            <a:ext cx="59264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年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959931" y="3547666"/>
            <a:ext cx="1065038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26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206 </a:t>
            </a:r>
            <a:pPr algn="ctr" indent="0" marL="0">
              <a:lnSpc>
                <a:spcPts val="3900"/>
              </a:lnSpc>
              <a:buNone/>
            </a:pPr>
            <a:r>
              <a:rPr lang="en-US" sz="26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2730500" y="4096941"/>
            <a:ext cx="1524000" cy="546100"/>
          </a:xfrm>
          <a:prstGeom prst="rect">
            <a:avLst/>
          </a:prstGeom>
          <a:solidFill>
            <a:srgbClr val="B443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103838" y="4265216"/>
            <a:ext cx="77722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複利 86 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30500" y="4643041"/>
            <a:ext cx="1524000" cy="762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60611" y="4919266"/>
            <a:ext cx="86367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本金 </a:t>
            </a:r>
            <a:pPr algn="ctr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120 萬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196177" y="5506641"/>
            <a:ext cx="59264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年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928431" y="2214166"/>
            <a:ext cx="1065038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26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416 </a:t>
            </a:r>
            <a:pPr algn="ctr" indent="0" marL="0">
              <a:lnSpc>
                <a:spcPts val="3900"/>
              </a:lnSpc>
              <a:buNone/>
            </a:pPr>
            <a:r>
              <a:rPr lang="en-US" sz="26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699000" y="2763441"/>
            <a:ext cx="1524000" cy="1498600"/>
          </a:xfrm>
          <a:prstGeom prst="rect">
            <a:avLst/>
          </a:prstGeom>
          <a:solidFill>
            <a:srgbClr val="B443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111" y="3407966"/>
            <a:ext cx="86367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複利 236 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99000" y="4262041"/>
            <a:ext cx="1524000" cy="1143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111" y="4728766"/>
            <a:ext cx="86367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本金 </a:t>
            </a:r>
            <a:pPr algn="ctr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180 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164677" y="5506641"/>
            <a:ext cx="59264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年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877175" y="1828899"/>
            <a:ext cx="0" cy="3390602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5950" y="1824454"/>
            <a:ext cx="3257931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spc="52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30 年，</a:t>
            </a:r>
            <a:endParaRPr lang="en-US" sz="26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600" b="1" spc="52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利息比本金還多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235950" y="2797790"/>
            <a:ext cx="3257931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 10 年幾乎看不出差別，</a:t>
            </a:r>
            <a:endParaRPr lang="en-US" sz="17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 10 年才是複利真正發力的時候。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235950" y="4089202"/>
            <a:ext cx="3194050" cy="113030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20100" y="4247952"/>
            <a:ext cx="70599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 </a:t>
            </a:r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法則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420100" y="4489252"/>
            <a:ext cx="288226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72 ÷ 報酬率 ≈ 翻倍年數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5% → 約 14 年翻一倍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976743" y="330200"/>
            <a:ext cx="167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IV · 理財 · 讀懂結果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51756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歲開始，每月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萬，實質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5%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歲退休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308100"/>
            <a:ext cx="87815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工具結果這樣讀：本金 ＋ 複利 ＝ 退休時累積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2000" y="2171700"/>
            <a:ext cx="6375400" cy="13716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0600" y="2346325"/>
            <a:ext cx="170989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退休時預估累積資產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90600" y="2590800"/>
            <a:ext cx="4347337" cy="768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55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</a:t>
            </a:r>
            <a:pPr algn="l" indent="0" marL="0">
              <a:lnSpc>
                <a:spcPts val="6050"/>
              </a:lnSpc>
              <a:buNone/>
            </a:pPr>
            <a:r>
              <a:rPr lang="en-US" sz="5500" spc="-4" kern="0" dirty="0">
                <a:solidFill>
                  <a:srgbClr val="F2EC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1,460.8 </a:t>
            </a:r>
            <a:pPr algn="l" indent="0" marL="0">
              <a:lnSpc>
                <a:spcPts val="6050"/>
              </a:lnSpc>
              <a:buNone/>
            </a:pPr>
            <a:r>
              <a:rPr lang="en-US" sz="55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5500" dirty="0"/>
          </a:p>
        </p:txBody>
      </p:sp>
      <p:sp>
        <p:nvSpPr>
          <p:cNvPr id="11" name="Shape 9"/>
          <p:cNvSpPr/>
          <p:nvPr/>
        </p:nvSpPr>
        <p:spPr>
          <a:xfrm>
            <a:off x="762000" y="3657600"/>
            <a:ext cx="2048867" cy="137666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8850" y="3825875"/>
            <a:ext cx="78822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投入年數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58850" y="4108450"/>
            <a:ext cx="1136714" cy="47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 </a:t>
            </a:r>
            <a:pPr algn="l" indent="0" marL="0">
              <a:lnSpc>
                <a:spcPts val="3740"/>
              </a:lnSpc>
              <a:buNone/>
            </a:pPr>
            <a:r>
              <a:rPr lang="en-US" sz="3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58850" y="4627860"/>
            <a:ext cx="147464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退休年齡 − 目前年齡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5167" y="3657600"/>
            <a:ext cx="2048966" cy="137666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22017" y="3825875"/>
            <a:ext cx="97258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本金總投入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122017" y="4108450"/>
            <a:ext cx="1377966" cy="47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672 </a:t>
            </a:r>
            <a:pPr algn="l" indent="0" marL="0">
              <a:lnSpc>
                <a:spcPts val="3740"/>
              </a:lnSpc>
              <a:buNone/>
            </a:pPr>
            <a:r>
              <a:rPr lang="en-US" sz="3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3122017" y="4627860"/>
            <a:ext cx="103514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萬 × 12 × 28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88434" y="3657600"/>
            <a:ext cx="2048867" cy="1376660"/>
          </a:xfrm>
          <a:prstGeom prst="rect">
            <a:avLst/>
          </a:prstGeom>
          <a:solidFill>
            <a:srgbClr val="FBF8F2"/>
          </a:solidFill>
          <a:ln w="19050">
            <a:solidFill>
              <a:srgbClr val="B443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97984" y="3838575"/>
            <a:ext cx="78822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複利貢獻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97984" y="4121150"/>
            <a:ext cx="1739567" cy="47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788.8 </a:t>
            </a:r>
            <a:pPr algn="l" indent="0" marL="0">
              <a:lnSpc>
                <a:spcPts val="3740"/>
              </a:lnSpc>
              <a:buNone/>
            </a:pPr>
            <a:r>
              <a:rPr lang="en-US" sz="34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5297984" y="4640560"/>
            <a:ext cx="9862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時間幫你賺的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2000" y="5199360"/>
            <a:ext cx="2932609" cy="3556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89000" y="5259685"/>
            <a:ext cx="7778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本金 46%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94609" y="5199360"/>
            <a:ext cx="3442692" cy="355600"/>
          </a:xfrm>
          <a:prstGeom prst="rect">
            <a:avLst/>
          </a:prstGeom>
          <a:solidFill>
            <a:srgbClr val="B443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821609" y="5259685"/>
            <a:ext cx="7778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複利 54%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3000" y="2171700"/>
            <a:ext cx="3937000" cy="36550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43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66050" y="2403475"/>
            <a:ext cx="173645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78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早開始 vs 晚 10 年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66050" y="2771775"/>
            <a:ext cx="33909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66050" y="2784475"/>
            <a:ext cx="33909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66050" y="3438525"/>
            <a:ext cx="33909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66050" y="2978150"/>
            <a:ext cx="19545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現在開始（28 年）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974064" y="2898775"/>
            <a:ext cx="137563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1,460.8 </a:t>
            </a:r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766050" y="4092575"/>
            <a:ext cx="33909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66050" y="3632200"/>
            <a:ext cx="18779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 10 年（18 年）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0182523" y="3552825"/>
            <a:ext cx="1142159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698.4 </a:t>
            </a:r>
            <a:pPr algn="l" indent="0" marL="0">
              <a:lnSpc>
                <a:spcPts val="3300"/>
              </a:lnSpc>
              <a:buNone/>
            </a:pPr>
            <a:r>
              <a:rPr lang="en-US" sz="22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766050" y="4098925"/>
            <a:ext cx="33909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66050" y="4111625"/>
            <a:ext cx="33909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66050" y="4879975"/>
            <a:ext cx="33909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66050" y="4387850"/>
            <a:ext cx="133629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 10 年少了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738023" y="4229100"/>
            <a:ext cx="1639999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</a:t>
            </a:r>
            <a:pPr algn="l" indent="0" marL="0">
              <a:lnSpc>
                <a:spcPts val="4200"/>
              </a:lnSpc>
              <a:buNone/>
            </a:pPr>
            <a:r>
              <a:rPr lang="en-US" sz="28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762 </a:t>
            </a:r>
            <a:pPr algn="l" indent="0" marL="0">
              <a:lnSpc>
                <a:spcPts val="4200"/>
              </a:lnSpc>
              <a:buNone/>
            </a:pPr>
            <a:r>
              <a:rPr lang="en-US" sz="28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</a:t>
            </a:r>
            <a:endParaRPr lang="en-US" sz="2800" dirty="0"/>
          </a:p>
        </p:txBody>
      </p:sp>
      <p:sp>
        <p:nvSpPr>
          <p:cNvPr id="42" name="Text 40"/>
          <p:cNvSpPr txBox="1"/>
          <p:nvPr/>
        </p:nvSpPr>
        <p:spPr>
          <a:xfrm>
            <a:off x="7766050" y="5017135"/>
            <a:ext cx="3458718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只晚 10 年，少掉的比一半還多：</a:t>
            </a:r>
            <a:pPr algn="l" indent="0" marL="0">
              <a:lnSpc>
                <a:spcPts val="2240"/>
              </a:lnSpc>
              <a:buNone/>
            </a:pPr>
            <a:r>
              <a:rPr lang="en-US" sz="14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複利最值錢的，是最後那幾年</a:t>
            </a:r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023078" y="330200"/>
            <a:ext cx="162655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05 ① · 5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1807865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18480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05 · ①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1698562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理財規劃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2816035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打開理財試算器「理財規劃」分頁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697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2411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299573"/>
            <a:ext cx="1734788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F1 ＝ C2 × 12 × 25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1841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555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2813923"/>
            <a:ext cx="1837912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照順序填工具的五格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6984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698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328273"/>
            <a:ext cx="144086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初始本金可留空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2128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7842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3842623"/>
            <a:ext cx="2179399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年報酬率（實質）填 5%</a:t>
            </a:r>
            <a:endParaRPr lang="en-US" sz="1400" dirty="0"/>
          </a:p>
        </p:txBody>
      </p:sp>
      <p:pic>
        <p:nvPicPr>
          <p:cNvPr id="22" name="Image 0" descr="/tmp/claude-0/pptx/data/s40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4734"/>
            <a:ext cx="825500" cy="115996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5 頁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739900" y="5105400"/>
            <a:ext cx="2171700" cy="990600"/>
          </a:xfrm>
          <a:prstGeom prst="rect">
            <a:avLst/>
          </a:prstGeom>
          <a:solidFill>
            <a:srgbClr val="F2ECE1"/>
          </a:solidFill>
          <a:ln/>
        </p:spPr>
      </p:sp>
      <p:pic>
        <p:nvPicPr>
          <p:cNvPr id="25" name="Image 1" descr="/tmp/claude-0/pptx/data/s40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0" y="5181600"/>
            <a:ext cx="838200" cy="8382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755900" y="5359400"/>
            <a:ext cx="78822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手機掃描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2755900" y="5648325"/>
            <a:ext cx="104259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開啟並加入書籤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4495800" y="2215257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10038060" y="2191445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495800" y="2489895"/>
            <a:ext cx="6934200" cy="2367161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31" name="Image 2" descr="/tmp/claude-0/pptx/data/s40_im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700" y="2578795"/>
            <a:ext cx="6756102" cy="2189361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023078" y="330200"/>
            <a:ext cx="162655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05 ② · 6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1807865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18480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05 · ②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2522442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草稿表試三次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2262965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只改每月投入，其他都不動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697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2411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299573"/>
            <a:ext cx="1792462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每月投入先試 5,000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1841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555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2813923"/>
            <a:ext cx="203649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每試一次，寫一列結果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6984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698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328273"/>
            <a:ext cx="1547987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累積 ≥ F1 就打勾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2128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7842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3842623"/>
            <a:ext cx="2002377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投入不超過 C3 月儲蓄</a:t>
            </a:r>
            <a:endParaRPr lang="en-US" sz="1400" dirty="0"/>
          </a:p>
        </p:txBody>
      </p:sp>
      <p:pic>
        <p:nvPicPr>
          <p:cNvPr id="22" name="Image 0" descr="/tmp/claude-0/pptx/data/s41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4734"/>
            <a:ext cx="825500" cy="115996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5 頁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495800" y="2504579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038060" y="2480766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95800" y="2779216"/>
            <a:ext cx="6934200" cy="1788517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27" name="Image 1" descr="/tmp/claude-0/pptx/data/s41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00" y="2868116"/>
            <a:ext cx="6756301" cy="1610717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41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023078" y="330200"/>
            <a:ext cx="162655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05 ③ · 5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1807865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18480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05 · ③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2522442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抄下試算結果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2631678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圈一組付得起的版本，照畫面抄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697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2411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299573"/>
            <a:ext cx="234475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先抄 C3：每月投入的上限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1841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555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2813923"/>
            <a:ext cx="2409984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F2 每月投入、F3 累積資產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6984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698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328273"/>
            <a:ext cx="2355755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投入年數、本金、G1 複利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2128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7842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3842623"/>
            <a:ext cx="2541889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往下捲：晚 10 年少了 → G2</a:t>
            </a:r>
            <a:endParaRPr lang="en-US" sz="1400" dirty="0"/>
          </a:p>
        </p:txBody>
      </p:sp>
      <p:pic>
        <p:nvPicPr>
          <p:cNvPr id="22" name="Image 0" descr="/tmp/claude-0/pptx/data/s42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4734"/>
            <a:ext cx="825500" cy="115996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5 頁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495800" y="1600299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038060" y="1576487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95800" y="1874937"/>
            <a:ext cx="6934200" cy="3596977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27" name="Image 1" descr="/tmp/claude-0/pptx/data/s42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00" y="1963837"/>
            <a:ext cx="6756301" cy="3419177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11085" y="330200"/>
            <a:ext cx="15279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總複習 ① · 4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1286470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126406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· ①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1286621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總複習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2835593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翻到第 6 頁，照代號把紅框抄過來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697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2411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299573"/>
            <a:ext cx="1771015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薪水：A1、A2、A3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1841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555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2813923"/>
            <a:ext cx="2278967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月退：B1，勾舊制或新制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6984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698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328273"/>
            <a:ext cx="2145729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收支：C1、C2、C3、D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2128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7842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3842623"/>
            <a:ext cx="1837912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右欄打勾，自我檢核</a:t>
            </a:r>
            <a:endParaRPr lang="en-US" sz="1400" dirty="0"/>
          </a:p>
        </p:txBody>
      </p:sp>
      <p:pic>
        <p:nvPicPr>
          <p:cNvPr id="22" name="Image 0" descr="/tmp/claude-0/pptx/data/s43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1658"/>
            <a:ext cx="825500" cy="116304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 頁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495800" y="1402655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038060" y="1378843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95800" y="1677293"/>
            <a:ext cx="6934200" cy="3992364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27" name="Image 1" descr="/tmp/claude-0/pptx/data/s43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00" y="1766193"/>
            <a:ext cx="6756202" cy="381456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43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11085" y="330200"/>
            <a:ext cx="15279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總複習 ② · 4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1286470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126406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· ②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1286621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總複習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2447322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看有沒有達標，再說給自己聽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697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2411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299573"/>
            <a:ext cx="2477548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資產：E1、負債比、預備金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1841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555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2813923"/>
            <a:ext cx="2663571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理財：F1、F2、F3、G1、G2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6984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698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328273"/>
            <a:ext cx="2320084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F3 ≥ F1？勾達標或寫差額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2128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7842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3842623"/>
            <a:ext cx="1837912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用一段話說給自己聽</a:t>
            </a:r>
            <a:endParaRPr lang="en-US" sz="1400" dirty="0"/>
          </a:p>
        </p:txBody>
      </p:sp>
      <p:pic>
        <p:nvPicPr>
          <p:cNvPr id="22" name="Image 0" descr="/tmp/claude-0/pptx/data/s44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1658"/>
            <a:ext cx="825500" cy="116304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 頁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495800" y="1168698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038060" y="1144885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95800" y="1443335"/>
            <a:ext cx="6934200" cy="4460180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27" name="Image 1" descr="/tmp/claude-0/pptx/data/s44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00" y="1532235"/>
            <a:ext cx="6756301" cy="428238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44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092851" y="3124200"/>
            <a:ext cx="4979527" cy="330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0"/>
              </a:lnSpc>
              <a:buNone/>
            </a:pPr>
            <a:r>
              <a:rPr lang="en-US" sz="26000" spc="-4" kern="0" dirty="0">
                <a:solidFill>
                  <a:srgbClr val="174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</a:t>
            </a:r>
            <a:endParaRPr lang="en-US" sz="2600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1997075"/>
            <a:ext cx="477850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 · 165′–178′ · 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學習單第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algn="l" indent="0" marL="0">
              <a:lnSpc>
                <a:spcPts val="1950"/>
              </a:lnSpc>
              <a:buNone/>
            </a:pPr>
            <a:r>
              <a:rPr lang="en-US" sz="1300" spc="31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89000" y="2498725"/>
            <a:ext cx="5088797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不選股，</a:t>
            </a:r>
            <a:endParaRPr lang="en-US" sz="6000" dirty="0"/>
          </a:p>
          <a:p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買下</a:t>
            </a:r>
            <a:pPr algn="l" indent="0" marL="0">
              <a:lnSpc>
                <a:spcPts val="6900"/>
              </a:lnSpc>
              <a:buNone/>
            </a:pPr>
            <a:r>
              <a:rPr lang="en-US" sz="6000" b="1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整個市場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89000" y="4530725"/>
            <a:ext cx="563849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為什麼買大盤、ETF 長期怎麼走、離開前的行動承諾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473234" y="330200"/>
            <a:ext cx="112237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 · 買大盤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51735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買大盤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用一檔市值型指數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ETF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，買下一整籃大公司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302385"/>
            <a:ext cx="5622163" cy="48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spc="6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為什麼買大盤，不買個股？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62000" y="2211685"/>
            <a:ext cx="3318867" cy="0"/>
          </a:xfrm>
          <a:prstGeom prst="line">
            <a:avLst/>
          </a:prstGeom>
          <a:noFill/>
          <a:ln w="19050">
            <a:solidFill>
              <a:srgbClr val="0F3B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2000" y="2354560"/>
            <a:ext cx="1244505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股王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3043535"/>
            <a:ext cx="209461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個股可能一去不回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62000" y="3447395"/>
            <a:ext cx="338524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宏達電曾是 1,300 元的股王，如今不到 100 元。指數會定期換掉變弱的公司，大盤自己會換血。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6467" y="2211685"/>
            <a:ext cx="3318966" cy="0"/>
          </a:xfrm>
          <a:prstGeom prst="line">
            <a:avLst/>
          </a:prstGeom>
          <a:noFill/>
          <a:ln w="19050">
            <a:solidFill>
              <a:srgbClr val="0F3B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6467" y="2354560"/>
            <a:ext cx="1094597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</a:t>
            </a:r>
            <a:pPr algn="l" indent="0" marL="0">
              <a:lnSpc>
                <a:spcPts val="4200"/>
              </a:lnSpc>
              <a:buNone/>
            </a:pPr>
            <a:r>
              <a:rPr lang="en-US" sz="42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4436467" y="3043535"/>
            <a:ext cx="209461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專家也很難贏大盤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36467" y="3447395"/>
            <a:ext cx="338534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 15 年統計，約 9 成主動型大型股基金，績效輸給 S&amp;P 500（SPIVA，至 2024 年底）。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11034" y="2211685"/>
            <a:ext cx="3318966" cy="0"/>
          </a:xfrm>
          <a:prstGeom prst="line">
            <a:avLst/>
          </a:prstGeom>
          <a:noFill/>
          <a:ln w="19050">
            <a:solidFill>
              <a:srgbClr val="0F3B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11034" y="2354560"/>
            <a:ext cx="169145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 </a:t>
            </a:r>
            <a:pPr algn="l" indent="0" marL="0">
              <a:lnSpc>
                <a:spcPts val="4200"/>
              </a:lnSpc>
              <a:buNone/>
            </a:pPr>
            <a:r>
              <a:rPr lang="en-US" sz="42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選股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8111034" y="3043535"/>
            <a:ext cx="158365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老師沒空盯盤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111034" y="3447395"/>
            <a:ext cx="3385346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不用研究財報、不用猜高低點；費用低、一次分散，時間留給學生和家人。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000" y="4970066"/>
            <a:ext cx="10668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4982766"/>
            <a:ext cx="10668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13000" y="4658916"/>
            <a:ext cx="5611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買個股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21500" y="4658916"/>
            <a:ext cx="5611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買大盤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2000" y="5493941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2000" y="5095478"/>
            <a:ext cx="10792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要做的功課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2413000" y="5095478"/>
            <a:ext cx="272469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研究財報、產業、進出場時機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921500" y="5095478"/>
            <a:ext cx="231330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b="1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設定扣款，一年檢視一次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62000" y="6005116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2000" y="5606653"/>
            <a:ext cx="10792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最壞的情況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2413000" y="5606653"/>
            <a:ext cx="231330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押錯一家，可能大跌不回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921500" y="5606653"/>
            <a:ext cx="334176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b="1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跟著整體市場起伏，不會因一家歸零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46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259913" y="330200"/>
            <a:ext cx="136129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 · 大盤 ETF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614445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台股、美股大盤，長期怎麼走？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62000" y="1965325"/>
            <a:ext cx="71374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1978025"/>
            <a:ext cx="71374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2000" y="1663700"/>
            <a:ext cx="34461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714500" y="1663700"/>
            <a:ext cx="36261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60900" y="1663700"/>
            <a:ext cx="9862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成立以來年化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867400" y="1663700"/>
            <a:ext cx="75133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2008 海嘯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46900" y="1663700"/>
            <a:ext cx="6744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幾年翻倍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2000" y="2940645"/>
            <a:ext cx="71374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2000" y="2136775"/>
            <a:ext cx="759778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2500" spc="-4" kern="0" dirty="0">
                <a:solidFill>
                  <a:srgbClr val="0F3B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0050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714500" y="2302510"/>
            <a:ext cx="30053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台灣市值前 50 大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1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市值型 · 2003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0900" y="2130425"/>
            <a:ext cx="1205722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26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≈12.6%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867400" y="2206625"/>
            <a:ext cx="7304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−56%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946900" y="2206625"/>
            <a:ext cx="77311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0F3B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 6 </a:t>
            </a:r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62000" y="3903266"/>
            <a:ext cx="71374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2000" y="3099395"/>
            <a:ext cx="8195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25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VOO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1714500" y="3265130"/>
            <a:ext cx="30053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 S&amp;P 500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1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市值型 · 2010（海嘯跌幅以指數計）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60900" y="3093045"/>
            <a:ext cx="929465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26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≈15%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5867400" y="3169245"/>
            <a:ext cx="7304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−57%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946900" y="3169245"/>
            <a:ext cx="77311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0F3B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 5 </a:t>
            </a:r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62000" y="4865886"/>
            <a:ext cx="71374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2000" y="4062016"/>
            <a:ext cx="759778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2500" spc="-4" kern="0" dirty="0">
                <a:solidFill>
                  <a:srgbClr val="0F3B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0056</a:t>
            </a:r>
            <a:endParaRPr lang="en-US" sz="2500" dirty="0"/>
          </a:p>
        </p:txBody>
      </p:sp>
      <p:sp>
        <p:nvSpPr>
          <p:cNvPr id="28" name="Text 26"/>
          <p:cNvSpPr txBox="1"/>
          <p:nvPr/>
        </p:nvSpPr>
        <p:spPr>
          <a:xfrm>
            <a:off x="1714500" y="4227751"/>
            <a:ext cx="30053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台灣高股息 50 檔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1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高股息 · 2007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660900" y="4055666"/>
            <a:ext cx="1021366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26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≈8.2%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5867400" y="4131866"/>
            <a:ext cx="7304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−58%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946900" y="4131866"/>
            <a:ext cx="77311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0F3B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 9 </a:t>
            </a:r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0F3B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62000" y="5032891"/>
            <a:ext cx="7893447" cy="275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0056 配息多，但配息是從淨值裡拿出來的，長期總報酬反而較低；股災時</a:t>
            </a:r>
            <a:pPr algn="l" indent="0" marL="0">
              <a:lnSpc>
                <a:spcPts val="2170"/>
              </a:lnSpc>
              <a:buNone/>
            </a:pPr>
            <a:r>
              <a:rPr lang="en-US" sz="14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高股息一樣跌</a:t>
            </a:r>
            <a:pPr algn="l" indent="0" marL="0">
              <a:lnSpc>
                <a:spcPts val="2170"/>
              </a:lnSpc>
              <a:buNone/>
            </a:pPr>
            <a:r>
              <a:rPr lang="en-US" sz="14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55000" y="1663700"/>
            <a:ext cx="3175000" cy="3025477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09000" y="1892300"/>
            <a:ext cx="202115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 </a:t>
            </a:r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法則</a:t>
            </a:r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pPr algn="l" indent="0" marL="0">
              <a:lnSpc>
                <a:spcPts val="1500"/>
              </a:lnSpc>
              <a:buNone/>
            </a:pPr>
            <a:r>
              <a:rPr lang="en-US" sz="1000" spc="160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錢多久翻一倍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509000" y="2168525"/>
            <a:ext cx="2720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72 ÷ 年報酬率（%）</a:t>
            </a:r>
            <a:endParaRPr lang="en-US" sz="20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000" b="1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翻倍年數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509000" y="2978468"/>
            <a:ext cx="272034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35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試算用的 5% → 72 ÷ 5 ≈ </a:t>
            </a:r>
            <a:pPr algn="l" indent="0" marL="0">
              <a:lnSpc>
                <a:spcPts val="2295"/>
              </a:lnSpc>
              <a:buNone/>
            </a:pPr>
            <a:r>
              <a:rPr lang="en-US" sz="1350" b="1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年</a:t>
            </a:r>
            <a:endParaRPr lang="en-US" sz="135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35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歲 10 萬 → 44 歲 20 萬</a:t>
            </a:r>
            <a:endParaRPr lang="en-US" sz="135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35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58 歲 40 萬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8509000" y="3968571"/>
            <a:ext cx="27203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spc="-4" kern="0" dirty="0">
                <a:solidFill>
                  <a:srgbClr val="F2ECE1">
                    <a:alpha val="8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過去平均 8～15%，試算只用 5%：扣掉通膨、留給波動，寧可保守。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62000" y="5715000"/>
            <a:ext cx="10881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含息、原幣計。0050 依元大投信公布成立以來累積報酬（至 2025/12/31）換算；0056 成立以來總報酬約 327%（至 2026/3/31）；跌幅為 2008 金融海嘯波段高點到低點，VOO 當時未成立，以 S&amp;P 500 指數計。過去績效不代表未來，非投資建議。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47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835753" y="330200"/>
            <a:ext cx="183635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 · 想一想 · 2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724694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6348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3036284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72 法則與想一想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2835593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寫在第 7 頁表格最後一欄與右下角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697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2411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299573"/>
            <a:ext cx="2296192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72 ÷ 年化報酬 ≈ 翻倍年數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1841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555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2813923"/>
            <a:ext cx="1837912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填表格最後一欄三格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6984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698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328273"/>
            <a:ext cx="2576560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想一想①：為什麼只用 5%？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2128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7842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3842623"/>
            <a:ext cx="2632234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想一想②③：寫下自己的答案</a:t>
            </a:r>
            <a:endParaRPr lang="en-US" sz="1400" dirty="0"/>
          </a:p>
        </p:txBody>
      </p:sp>
      <p:pic>
        <p:nvPicPr>
          <p:cNvPr id="22" name="Image 0" descr="/tmp/claude-0/pptx/data/s48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1658"/>
            <a:ext cx="825500" cy="116304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7 頁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495800" y="1087438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038060" y="1063625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38229" y="1362075"/>
            <a:ext cx="5849342" cy="4622800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27" name="Image 1" descr="/tmp/claude-0/pptx/data/s48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129" y="1450975"/>
            <a:ext cx="5671542" cy="44450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16766" y="330200"/>
            <a:ext cx="129762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 · 定期定額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33302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固定日期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固定金額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自動扣款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308100"/>
            <a:ext cx="49872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跌的時候，</a:t>
            </a:r>
            <a:endParaRPr lang="en-US" sz="30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你其實買到</a:t>
            </a:r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更多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2399030"/>
            <a:ext cx="498729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價格繞了一圈回到 100，</a:t>
            </a:r>
            <a:endParaRPr lang="en-US" sz="17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 3,000 元扣了 4 個月，</a:t>
            </a:r>
            <a:endParaRPr lang="en-US" sz="17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帳面卻是</a:t>
            </a:r>
            <a:pPr algn="l" indent="0" marL="0">
              <a:lnSpc>
                <a:spcPts val="2720"/>
              </a:lnSpc>
              <a:buNone/>
            </a:pPr>
            <a:r>
              <a:rPr lang="en-US" sz="17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賺 23%</a:t>
            </a:r>
            <a:pPr algn="l" indent="0" marL="0">
              <a:lnSpc>
                <a:spcPts val="2720"/>
              </a:lnSpc>
              <a:buNone/>
            </a:pPr>
            <a:r>
              <a:rPr lang="en-US" sz="17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23000" y="2101850"/>
            <a:ext cx="5207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23000" y="2114550"/>
            <a:ext cx="5207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23000" y="1778000"/>
            <a:ext cx="3910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月份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35435" y="1778000"/>
            <a:ext cx="3910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737185" y="1778000"/>
            <a:ext cx="3910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698671" y="1778000"/>
            <a:ext cx="7313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買到單位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3000" y="2705100"/>
            <a:ext cx="5207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23000" y="2270125"/>
            <a:ext cx="4665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月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38398" y="2216150"/>
            <a:ext cx="68810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3,000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652397" y="2216150"/>
            <a:ext cx="47585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1095831" y="2216150"/>
            <a:ext cx="33416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23000" y="3295650"/>
            <a:ext cx="5207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23000" y="2860675"/>
            <a:ext cx="4665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月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138398" y="2806700"/>
            <a:ext cx="68810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3,000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794081" y="2806700"/>
            <a:ext cx="33416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0883583" y="2806700"/>
            <a:ext cx="54641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37.5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23000" y="3886200"/>
            <a:ext cx="5207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23000" y="3451225"/>
            <a:ext cx="4665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月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138398" y="3397250"/>
            <a:ext cx="68810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3,000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794081" y="3397250"/>
            <a:ext cx="33416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1095831" y="3397250"/>
            <a:ext cx="33416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223000" y="4476750"/>
            <a:ext cx="5207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23000" y="4041775"/>
            <a:ext cx="4665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月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138398" y="3987800"/>
            <a:ext cx="68810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3,000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652397" y="3987800"/>
            <a:ext cx="47585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11095831" y="3987800"/>
            <a:ext cx="33416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223000" y="4483100"/>
            <a:ext cx="5207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23000" y="4495800"/>
            <a:ext cx="5207000" cy="0"/>
          </a:xfrm>
          <a:prstGeom prst="line">
            <a:avLst/>
          </a:prstGeom>
          <a:noFill/>
          <a:ln w="6350">
            <a:solidFill>
              <a:srgbClr val="1E24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3000" y="5264150"/>
            <a:ext cx="5207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23000" y="4772025"/>
            <a:ext cx="33315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 12,000 → 147.5 單位 × 100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10455077" y="4613275"/>
            <a:ext cx="1142714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spc="-4" kern="0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14,750</a:t>
            </a:r>
            <a:endParaRPr lang="en-US" sz="2800" dirty="0"/>
          </a:p>
        </p:txBody>
      </p:sp>
      <p:sp>
        <p:nvSpPr>
          <p:cNvPr id="40" name="Text 38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29702" y="330200"/>
            <a:ext cx="9471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 · 開始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527389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從今天到第一筆扣款，四步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62000" y="1816100"/>
            <a:ext cx="2473722" cy="254000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8850" y="2057400"/>
            <a:ext cx="26360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58850" y="2606675"/>
            <a:ext cx="154154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先留預備金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958850" y="3093085"/>
            <a:ext cx="2121622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1E2420">
                    <a:alpha val="8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個月生活費放存款，投資的錢才不會被迫賣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24622" y="2892425"/>
            <a:ext cx="14503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97659" y="1816100"/>
            <a:ext cx="2473722" cy="254000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94509" y="2057400"/>
            <a:ext cx="26360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694509" y="2606675"/>
            <a:ext cx="124339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開證券戶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3694509" y="3093085"/>
            <a:ext cx="2121622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1E2420">
                    <a:alpha val="8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線上開戶約 15 分鐘，順便綁定扣款帳戶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60281" y="2892425"/>
            <a:ext cx="14503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33319" y="1816100"/>
            <a:ext cx="2461022" cy="2540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3819" y="2051050"/>
            <a:ext cx="26360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423819" y="2600325"/>
            <a:ext cx="154154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選一檔大盤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423819" y="3086735"/>
            <a:ext cx="2121622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F2ECE1">
                    <a:alpha val="8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市值型指數 ETF，一檔就夠，不用收集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83241" y="2892425"/>
            <a:ext cx="14503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56278" y="1816100"/>
            <a:ext cx="2473722" cy="254000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53128" y="2057400"/>
            <a:ext cx="26360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4" kern="0" dirty="0">
                <a:solidFill>
                  <a:srgbClr val="B08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153128" y="2606675"/>
            <a:ext cx="124339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設定扣款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9153128" y="3093085"/>
            <a:ext cx="2121622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1E2420">
                    <a:alpha val="8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發薪日後扣款，一年只檢視一次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62000" y="4632325"/>
            <a:ext cx="65153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講者自己的做法，僅供參考、非投資建議；標的請自行研究費用率、規模與追蹤指數。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316766" y="330200"/>
            <a:ext cx="129762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 · 常見問題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27156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FAQ · </a:t>
            </a:r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老師最常問的三句話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1308100"/>
            <a:ext cx="3915283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34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紀律，比時機重要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62000" y="292417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2000" y="2359025"/>
            <a:ext cx="374170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現在是高點，要不要等？</a:t>
            </a:r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672634" y="2357438"/>
            <a:ext cx="43066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spc="-4" kern="0" dirty="0">
                <a:solidFill>
                  <a:srgbClr val="F2ECE1">
                    <a:alpha val="8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沒人猜得準。定期定額的意義，就是不用猜。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2000" y="36671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2000" y="3101975"/>
            <a:ext cx="345778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大跌了，要不要停扣？</a:t>
            </a:r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672634" y="3100388"/>
            <a:ext cx="43066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spc="-4" kern="0" dirty="0">
                <a:solidFill>
                  <a:srgbClr val="F2ECE1">
                    <a:alpha val="8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跌的時候正在買便宜貨。停扣，才是真的虧。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2000" y="441007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2000" y="3844925"/>
            <a:ext cx="289004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錢不多，有差嗎？</a:t>
            </a:r>
            <a:pPr algn="l" indent="0" marL="0">
              <a:lnSpc>
                <a:spcPts val="3000"/>
              </a:lnSpc>
              <a:buNone/>
            </a:pPr>
            <a:r>
              <a:rPr lang="en-US" sz="20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72634" y="3843338"/>
            <a:ext cx="46837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spc="-4" kern="0" dirty="0">
                <a:solidFill>
                  <a:srgbClr val="F2ECE1">
                    <a:alpha val="8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3,000 元也可以開始。先養成習慣，再慢慢加碼。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29702" y="330200"/>
            <a:ext cx="9471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 · 風險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483862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60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退休規劃的四個隱形對手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62000" y="1765300"/>
            <a:ext cx="5232400" cy="126236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2350" y="1997075"/>
            <a:ext cx="130029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長壽風險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2350" y="2502535"/>
            <a:ext cx="5213556" cy="28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活得比錢久。公保年金與年金型收入是與生命等長的解方。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7600" y="1765300"/>
            <a:ext cx="5232400" cy="126236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7950" y="1997075"/>
            <a:ext cx="130029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通膨風險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57950" y="2502535"/>
            <a:ext cx="4419346" cy="28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錢變薄。長期資產需要有成長性，不能全放定存。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230860"/>
            <a:ext cx="5232400" cy="126236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22350" y="3462635"/>
            <a:ext cx="130029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順序風險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022350" y="3968095"/>
            <a:ext cx="4440460" cy="28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剛退休就遇大跌。退休前 5 年逐步提高保守資產。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7600" y="3230860"/>
            <a:ext cx="5232400" cy="1262360"/>
          </a:xfrm>
          <a:prstGeom prst="rect">
            <a:avLst/>
          </a:prstGeom>
          <a:solidFill>
            <a:srgbClr val="FBF8F2"/>
          </a:solidFill>
          <a:ln w="6350">
            <a:solidFill>
              <a:srgbClr val="CDBF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57950" y="3462635"/>
            <a:ext cx="130029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醫療長照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57950" y="3968095"/>
            <a:ext cx="4617926" cy="28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spc="-4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最難估的一項。另外準備一筆，不要跟生活費混用。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D8C197">
                <a:alpha val="3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679285" y="330200"/>
            <a:ext cx="201160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 · 行動承諾 · 3 分鐘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2000" y="927100"/>
            <a:ext cx="724694" cy="241300"/>
          </a:xfrm>
          <a:prstGeom prst="rect">
            <a:avLst/>
          </a:prstGeom>
          <a:solidFill>
            <a:srgbClr val="B0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600" y="971550"/>
            <a:ext cx="6348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spc="189" kern="0" dirty="0">
                <a:solidFill>
                  <a:srgbClr val="1E2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1299337"/>
            <a:ext cx="1698562" cy="44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38"/>
              </a:lnSpc>
              <a:buNone/>
            </a:pPr>
            <a:r>
              <a:rPr lang="en-US" sz="29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行動承諾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1812290"/>
            <a:ext cx="2651236" cy="23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spc="-4" kern="0" dirty="0">
                <a:solidFill>
                  <a:srgbClr val="F2ECE1">
                    <a:alpha val="7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寫在第 7 頁最下面，簽名＋日期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2000" y="26697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22411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7600" y="2299573"/>
            <a:ext cx="2632234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今晚：拍照存檔、確認預備金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31841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000" y="27555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17600" y="2813923"/>
            <a:ext cx="243365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這個月：開戶、設定扣款日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69847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2000" y="326985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7600" y="3328273"/>
            <a:ext cx="1837912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今年：查年資與專戶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212828"/>
            <a:ext cx="3429000" cy="0"/>
          </a:xfrm>
          <a:prstGeom prst="line">
            <a:avLst/>
          </a:prstGeom>
          <a:noFill/>
          <a:ln w="6350">
            <a:solidFill>
              <a:srgbClr val="D8C197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2000" y="3784203"/>
            <a:ext cx="1782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17600" y="3842623"/>
            <a:ext cx="2036493" cy="25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明年今天，再打開一次</a:t>
            </a:r>
            <a:endParaRPr lang="en-US" sz="1400" dirty="0"/>
          </a:p>
        </p:txBody>
      </p:sp>
      <p:pic>
        <p:nvPicPr>
          <p:cNvPr id="22" name="Image 0" descr="/tmp/claude-0/pptx/data/s53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91658"/>
            <a:ext cx="825500" cy="116304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62000" y="5905500"/>
            <a:ext cx="9156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500"/>
              </a:lnSpc>
              <a:buNone/>
            </a:pPr>
            <a:r>
              <a:rPr lang="en-US" sz="1000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7 頁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495800" y="2480469"/>
            <a:ext cx="23251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 ·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學習單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algn="l" indent="0" marL="0">
              <a:lnSpc>
                <a:spcPts val="1425"/>
              </a:lnSpc>
              <a:buNone/>
            </a:pPr>
            <a:r>
              <a:rPr lang="en-US" sz="950" spc="133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038060" y="2456656"/>
            <a:ext cx="1609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-4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藍字＝示範老師的填法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95800" y="2755106"/>
            <a:ext cx="6934200" cy="1836737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27" name="Image 1" descr="/tmp/claude-0/pptx/data/s53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00" y="2844006"/>
            <a:ext cx="6756301" cy="1658938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F2ECE1">
                    <a:alpha val="55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53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D8C197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57225"/>
            <a:ext cx="10668000" cy="0"/>
          </a:xfrm>
          <a:prstGeom prst="line">
            <a:avLst/>
          </a:prstGeom>
          <a:noFill/>
          <a:ln w="6350">
            <a:solidFill>
              <a:srgbClr val="CDBF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2000" y="342900"/>
            <a:ext cx="34992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80" kern="0" dirty="0">
                <a:solidFill>
                  <a:srgbClr val="B0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TEACHER'S RETIREMENT LEDGER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003830" y="330200"/>
            <a:ext cx="164811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spc="132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 · 今天的一句話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952500"/>
            <a:ext cx="12798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40" kern="0" dirty="0">
                <a:solidFill>
                  <a:srgbClr val="B0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今天的一句話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2000" y="1581150"/>
            <a:ext cx="3403600" cy="0"/>
          </a:xfrm>
          <a:prstGeom prst="line">
            <a:avLst/>
          </a:prstGeom>
          <a:noFill/>
          <a:ln w="38100">
            <a:solidFill>
              <a:srgbClr val="0F3B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2000" y="1714500"/>
            <a:ext cx="277958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定期定額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2463800"/>
            <a:ext cx="154043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用紀律取代猜測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94200" y="1581150"/>
            <a:ext cx="3403600" cy="0"/>
          </a:xfrm>
          <a:prstGeom prst="line">
            <a:avLst/>
          </a:prstGeom>
          <a:noFill/>
          <a:ln w="38100">
            <a:solidFill>
              <a:srgbClr val="0F3B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94200" y="1714500"/>
            <a:ext cx="2097389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買大盤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394200" y="2463800"/>
            <a:ext cx="154043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用分散取代選股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26400" y="1581150"/>
            <a:ext cx="3403600" cy="0"/>
          </a:xfrm>
          <a:prstGeom prst="line">
            <a:avLst/>
          </a:prstGeom>
          <a:noFill/>
          <a:ln w="38100">
            <a:solidFill>
              <a:srgbClr val="B443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26400" y="1714500"/>
            <a:ext cx="141519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複利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8026400" y="2463800"/>
            <a:ext cx="154043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用時間取代本金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2000" y="3321050"/>
            <a:ext cx="6296914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你不需要很會投資，只需要</a:t>
            </a:r>
            <a:pPr algn="l" indent="0" marL="0">
              <a:lnSpc>
                <a:spcPts val="3200"/>
              </a:lnSpc>
              <a:buNone/>
            </a:pPr>
            <a:r>
              <a:rPr lang="en-US" sz="2000" b="1" spc="-4" kern="0" dirty="0">
                <a:solidFill>
                  <a:srgbClr val="B443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很早開始、很久不停</a:t>
            </a:r>
            <a:pPr algn="l" indent="0" marL="0">
              <a:lnSpc>
                <a:spcPts val="3200"/>
              </a:lnSpc>
              <a:buNone/>
            </a:pPr>
            <a:r>
              <a:rPr lang="en-US" sz="2000" spc="-4" kern="0" dirty="0">
                <a:solidFill>
                  <a:srgbClr val="1E24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62000" y="6375400"/>
            <a:ext cx="31927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spc="100" kern="0" dirty="0">
                <a:solidFill>
                  <a:srgbClr val="6B68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教師退休現金流工作坊 · 從法規到自己的數字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974884" y="6330950"/>
            <a:ext cx="56053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lnSpc>
                <a:spcPts val="1950"/>
              </a:lnSpc>
              <a:buNone/>
            </a:pPr>
            <a:r>
              <a:rPr lang="en-US" sz="1300" spc="-4" kern="0" dirty="0">
                <a:solidFill>
                  <a:srgbClr val="6B685C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16000" y="1482725"/>
            <a:ext cx="19193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288" kern="0" dirty="0">
                <a:solidFill>
                  <a:srgbClr val="D8C1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 · Q&amp;A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6000" y="2016125"/>
            <a:ext cx="103632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56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我們一輩子在陪學生</a:t>
            </a:r>
            <a:endParaRPr lang="en-US" sz="5600" dirty="0"/>
          </a:p>
          <a:p>
            <a:pPr algn="l" indent="0" marL="0">
              <a:lnSpc>
                <a:spcPts val="7000"/>
              </a:lnSpc>
              <a:buNone/>
            </a:pPr>
            <a:r>
              <a:rPr lang="en-US" sz="5600" b="1" spc="-4" kern="0" dirty="0">
                <a:solidFill>
                  <a:srgbClr val="F2EC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規劃未來，</a:t>
            </a:r>
            <a:endParaRPr lang="en-US" sz="5600" dirty="0"/>
          </a:p>
          <a:p>
            <a:pPr algn="l" indent="0" marL="0">
              <a:lnSpc>
                <a:spcPts val="7000"/>
              </a:lnSpc>
              <a:buNone/>
            </a:pPr>
            <a:r>
              <a:rPr lang="en-US" sz="5600" b="1" spc="-4" kern="0" dirty="0">
                <a:solidFill>
                  <a:srgbClr val="D8C1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也該陪自己算一次。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1016000" y="5089525"/>
            <a:ext cx="255844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spc="90" kern="0" dirty="0">
                <a:solidFill>
                  <a:srgbClr val="F2ECE1">
                    <a:alpha val="70000"/>
                  </a:srgb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謝謝各位老師 ── 引路人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教師退休現金流工作坊</dc:title>
  <dc:subject>PptxGenJS Presentation</dc:subject>
  <dc:creator>PptxGenJS</dc:creator>
  <cp:lastModifiedBy>PptxGenJS</cp:lastModifiedBy>
  <cp:revision>1</cp:revision>
  <dcterms:created xsi:type="dcterms:W3CDTF">2026-09-26T07:56:21Z</dcterms:created>
  <dcterms:modified xsi:type="dcterms:W3CDTF">2026-09-26T07:56:21Z</dcterms:modified>
</cp:coreProperties>
</file>